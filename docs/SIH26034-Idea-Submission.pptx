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The law says the MRP must be printed at least 2.5 millimetres tall. Nobody can check that with their eyes. We built software that measures it from a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packet must legally print nine things. What almost nobody knows is that the law also says how TALL those letters must be, to the millimetre. A company can print everything correctly and still break the law because the text is 2.1 mm instead of 2.5 mm. You cannot see that. A camera can measure it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measurement chain out loud: we put a card of known size in the same photograph. OpenCV finds it and tells us it is 200 pixels wide. So one pixel is a quarter of a millimetre. When the text detector gives a box 9 pixels tall, that is 2.25 mm. The rule requires 2.5. That is a violation, and we can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this is a government enforcement tool. If it wrongly flags an honest shopkeeper it does more harm than good. So when the system is not confident it says NEEDS PHYSICAL CHECK and hands it to a human. We would rather miss a case than create a false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to use: there are lakhs of shops and a few thousand inspectors — the arithmetic does not work. This does not replace an inspector. It tells them which shop to walk into, and hands them the evidence when they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hook: the law says 2.5 millimetres. Nobody can check that with their eyes. We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658368"/>
            <a:ext cx="1508760" cy="347472"/>
          </a:xfrm>
          <a:prstGeom prst="roundRect">
            <a:avLst>
              <a:gd name="adj" fmla="val 50000"/>
            </a:avLst>
          </a:prstGeom>
          <a:solidFill>
            <a:srgbClr val="F26430"/>
          </a:solidFill>
          <a:ln w="12700">
            <a:solidFill>
              <a:srgbClr val="F26430"/>
            </a:solidFill>
            <a:prstDash val="solid"/>
          </a:ln>
        </p:spPr>
      </p:sp>
      <p:sp>
        <p:nvSpPr>
          <p:cNvPr id="3" name="Text 1"/>
          <p:cNvSpPr txBox="1"/>
          <p:nvPr/>
        </p:nvSpPr>
        <p:spPr>
          <a:xfrm>
            <a:off x="640080" y="658368"/>
            <a:ext cx="1508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SIH26034</a:t>
            </a:r>
            <a:endParaRPr lang="en-US" sz="1300" dirty="0"/>
          </a:p>
        </p:txBody>
      </p:sp>
      <p:sp>
        <p:nvSpPr>
          <p:cNvPr id="4" name="Text 2"/>
          <p:cNvSpPr txBox="1"/>
          <p:nvPr/>
        </p:nvSpPr>
        <p:spPr>
          <a:xfrm>
            <a:off x="603504" y="1115568"/>
            <a:ext cx="7772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Naap-Tol</a:t>
            </a:r>
            <a:endParaRPr lang="en-US" sz="5400" dirty="0"/>
          </a:p>
        </p:txBody>
      </p:sp>
      <p:sp>
        <p:nvSpPr>
          <p:cNvPr id="5" name="Text 3"/>
          <p:cNvSpPr txBox="1"/>
          <p:nvPr/>
        </p:nvSpPr>
        <p:spPr>
          <a:xfrm>
            <a:off x="640080" y="2029968"/>
            <a:ext cx="9601200" cy="384048"/>
          </a:xfrm>
          <a:prstGeom prst="rect">
            <a:avLst/>
          </a:prstGeom>
          <a:noFill/>
          <a:ln/>
        </p:spPr>
        <p:txBody>
          <a:bodyPr wrap="square" lIns="0" tIns="0" rIns="0" bIns="0"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Measuring Legal Metrology compliance — not just reading it.</a:t>
            </a:r>
            <a:endParaRPr lang="en-US" sz="1900" dirty="0"/>
          </a:p>
        </p:txBody>
      </p:sp>
      <p:sp>
        <p:nvSpPr>
          <p:cNvPr id="6" name="Text 4"/>
          <p:cNvSpPr txBox="1"/>
          <p:nvPr/>
        </p:nvSpPr>
        <p:spPr>
          <a:xfrm>
            <a:off x="640080" y="2606040"/>
            <a:ext cx="10241280" cy="548640"/>
          </a:xfrm>
          <a:prstGeom prst="rect">
            <a:avLst/>
          </a:prstGeom>
          <a:noFill/>
          <a:ln/>
        </p:spPr>
        <p:txBody>
          <a:bodyPr wrap="square" lIns="0" tIns="0" rIns="0" bIns="0" rtlCol="0" anchor="t"/>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Software System to check compliance of Packaged Commodities under Legal Metrology (Packaged Commodities) Rules, 2011 by scanning products, images and labels.</a:t>
            </a:r>
            <a:endParaRPr lang="en-US" sz="1250" dirty="0"/>
          </a:p>
        </p:txBody>
      </p:sp>
      <p:sp>
        <p:nvSpPr>
          <p:cNvPr id="7" name="Text 5"/>
          <p:cNvSpPr txBox="1"/>
          <p:nvPr/>
        </p:nvSpPr>
        <p:spPr>
          <a:xfrm>
            <a:off x="640080" y="3401568"/>
            <a:ext cx="2606040" cy="219456"/>
          </a:xfrm>
          <a:prstGeom prst="rect">
            <a:avLst/>
          </a:prstGeom>
          <a:noFill/>
          <a:ln/>
        </p:spPr>
        <p:txBody>
          <a:bodyPr wrap="square" lIns="0" tIns="0" rIns="0" bIns="0" rtlCol="0" anchor="ctr"/>
          <a:lstStyle/>
          <a:p>
            <a:pPr indent="0" marL="0">
              <a:buNone/>
            </a:pPr>
            <a:r>
              <a:rPr lang="en-US" sz="900" b="1" spc="100" kern="0" dirty="0">
                <a:solidFill>
                  <a:srgbClr val="8FA6D8"/>
                </a:solidFill>
                <a:latin typeface="Calibri" pitchFamily="34" charset="0"/>
                <a:ea typeface="Calibri" pitchFamily="34" charset="-122"/>
                <a:cs typeface="Calibri" pitchFamily="34" charset="-120"/>
              </a:rPr>
              <a:t>PROBLEM STATEMENT ID</a:t>
            </a:r>
            <a:endParaRPr lang="en-US" sz="900" dirty="0"/>
          </a:p>
        </p:txBody>
      </p:sp>
      <p:sp>
        <p:nvSpPr>
          <p:cNvPr id="8" name="Text 6"/>
          <p:cNvSpPr txBox="1"/>
          <p:nvPr/>
        </p:nvSpPr>
        <p:spPr>
          <a:xfrm>
            <a:off x="640080" y="3621024"/>
            <a:ext cx="2606040" cy="566928"/>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SIH26034</a:t>
            </a:r>
            <a:endParaRPr lang="en-US" sz="1250" dirty="0"/>
          </a:p>
        </p:txBody>
      </p:sp>
      <p:sp>
        <p:nvSpPr>
          <p:cNvPr id="9" name="Text 7"/>
          <p:cNvSpPr txBox="1"/>
          <p:nvPr/>
        </p:nvSpPr>
        <p:spPr>
          <a:xfrm>
            <a:off x="3401568" y="3401568"/>
            <a:ext cx="2606040" cy="219456"/>
          </a:xfrm>
          <a:prstGeom prst="rect">
            <a:avLst/>
          </a:prstGeom>
          <a:noFill/>
          <a:ln/>
        </p:spPr>
        <p:txBody>
          <a:bodyPr wrap="square" lIns="0" tIns="0" rIns="0" bIns="0" rtlCol="0" anchor="ctr"/>
          <a:lstStyle/>
          <a:p>
            <a:pPr indent="0" marL="0">
              <a:buNone/>
            </a:pPr>
            <a:r>
              <a:rPr lang="en-US" sz="900" b="1" spc="100" kern="0" dirty="0">
                <a:solidFill>
                  <a:srgbClr val="8FA6D8"/>
                </a:solidFill>
                <a:latin typeface="Calibri" pitchFamily="34" charset="0"/>
                <a:ea typeface="Calibri" pitchFamily="34" charset="-122"/>
                <a:cs typeface="Calibri" pitchFamily="34" charset="-120"/>
              </a:rPr>
              <a:t>ORGANISATION</a:t>
            </a:r>
            <a:endParaRPr lang="en-US" sz="900" dirty="0"/>
          </a:p>
        </p:txBody>
      </p:sp>
      <p:sp>
        <p:nvSpPr>
          <p:cNvPr id="10" name="Text 8"/>
          <p:cNvSpPr txBox="1"/>
          <p:nvPr/>
        </p:nvSpPr>
        <p:spPr>
          <a:xfrm>
            <a:off x="3401568" y="3621024"/>
            <a:ext cx="2606040" cy="566928"/>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Ministry of Consumer Affairs,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Food &amp; Public Distribution</a:t>
            </a:r>
            <a:endParaRPr lang="en-US" sz="1250" dirty="0"/>
          </a:p>
        </p:txBody>
      </p:sp>
      <p:sp>
        <p:nvSpPr>
          <p:cNvPr id="11" name="Text 9"/>
          <p:cNvSpPr txBox="1"/>
          <p:nvPr/>
        </p:nvSpPr>
        <p:spPr>
          <a:xfrm>
            <a:off x="6163056" y="3401568"/>
            <a:ext cx="2606040" cy="219456"/>
          </a:xfrm>
          <a:prstGeom prst="rect">
            <a:avLst/>
          </a:prstGeom>
          <a:noFill/>
          <a:ln/>
        </p:spPr>
        <p:txBody>
          <a:bodyPr wrap="square" lIns="0" tIns="0" rIns="0" bIns="0" rtlCol="0" anchor="ctr"/>
          <a:lstStyle/>
          <a:p>
            <a:pPr indent="0" marL="0">
              <a:buNone/>
            </a:pPr>
            <a:r>
              <a:rPr lang="en-US" sz="900" b="1" spc="100" kern="0" dirty="0">
                <a:solidFill>
                  <a:srgbClr val="8FA6D8"/>
                </a:solidFill>
                <a:latin typeface="Calibri" pitchFamily="34" charset="0"/>
                <a:ea typeface="Calibri" pitchFamily="34" charset="-122"/>
                <a:cs typeface="Calibri" pitchFamily="34" charset="-120"/>
              </a:rPr>
              <a:t>THEME</a:t>
            </a:r>
            <a:endParaRPr lang="en-US" sz="900" dirty="0"/>
          </a:p>
        </p:txBody>
      </p:sp>
      <p:sp>
        <p:nvSpPr>
          <p:cNvPr id="12" name="Text 10"/>
          <p:cNvSpPr txBox="1"/>
          <p:nvPr/>
        </p:nvSpPr>
        <p:spPr>
          <a:xfrm>
            <a:off x="6163056" y="3621024"/>
            <a:ext cx="2606040" cy="566928"/>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Agriculture, FoodTech &amp;</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Rural Development</a:t>
            </a:r>
            <a:endParaRPr lang="en-US" sz="1250" dirty="0"/>
          </a:p>
        </p:txBody>
      </p:sp>
      <p:sp>
        <p:nvSpPr>
          <p:cNvPr id="13" name="Text 11"/>
          <p:cNvSpPr txBox="1"/>
          <p:nvPr/>
        </p:nvSpPr>
        <p:spPr>
          <a:xfrm>
            <a:off x="8924544" y="3401568"/>
            <a:ext cx="2606040" cy="219456"/>
          </a:xfrm>
          <a:prstGeom prst="rect">
            <a:avLst/>
          </a:prstGeom>
          <a:noFill/>
          <a:ln/>
        </p:spPr>
        <p:txBody>
          <a:bodyPr wrap="square" lIns="0" tIns="0" rIns="0" bIns="0" rtlCol="0" anchor="ctr"/>
          <a:lstStyle/>
          <a:p>
            <a:pPr indent="0" marL="0">
              <a:buNone/>
            </a:pPr>
            <a:r>
              <a:rPr lang="en-US" sz="900" b="1" spc="100" kern="0" dirty="0">
                <a:solidFill>
                  <a:srgbClr val="8FA6D8"/>
                </a:solidFill>
                <a:latin typeface="Calibri" pitchFamily="34" charset="0"/>
                <a:ea typeface="Calibri" pitchFamily="34" charset="-122"/>
                <a:cs typeface="Calibri" pitchFamily="34" charset="-120"/>
              </a:rPr>
              <a:t>CATEGORY</a:t>
            </a:r>
            <a:endParaRPr lang="en-US" sz="900" dirty="0"/>
          </a:p>
        </p:txBody>
      </p:sp>
      <p:sp>
        <p:nvSpPr>
          <p:cNvPr id="14" name="Text 12"/>
          <p:cNvSpPr txBox="1"/>
          <p:nvPr/>
        </p:nvSpPr>
        <p:spPr>
          <a:xfrm>
            <a:off x="8924544" y="3621024"/>
            <a:ext cx="2606040" cy="566928"/>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Software</a:t>
            </a:r>
            <a:endParaRPr lang="en-US" sz="1250" dirty="0"/>
          </a:p>
        </p:txBody>
      </p:sp>
      <p:sp>
        <p:nvSpPr>
          <p:cNvPr id="15" name="Text 13"/>
          <p:cNvSpPr txBox="1"/>
          <p:nvPr/>
        </p:nvSpPr>
        <p:spPr>
          <a:xfrm>
            <a:off x="640080" y="4434840"/>
            <a:ext cx="1051560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TEAM NAME  ______________________          INSTITUTION  ______________________</a:t>
            </a:r>
            <a:endParaRPr lang="en-US" sz="1200" dirty="0"/>
          </a:p>
        </p:txBody>
      </p:sp>
      <p:sp>
        <p:nvSpPr>
          <p:cNvPr id="16" name="Shape 14"/>
          <p:cNvSpPr/>
          <p:nvPr/>
        </p:nvSpPr>
        <p:spPr>
          <a:xfrm>
            <a:off x="640080" y="4846320"/>
            <a:ext cx="1664208" cy="841248"/>
          </a:xfrm>
          <a:prstGeom prst="roundRect">
            <a:avLst>
              <a:gd name="adj" fmla="val 7609"/>
            </a:avLst>
          </a:prstGeom>
          <a:solidFill>
            <a:srgbClr val="2E3C7E"/>
          </a:solidFill>
          <a:ln w="12700">
            <a:solidFill>
              <a:srgbClr val="2E3C7E"/>
            </a:solidFill>
            <a:prstDash val="solid"/>
          </a:ln>
        </p:spPr>
      </p:sp>
      <p:sp>
        <p:nvSpPr>
          <p:cNvPr id="17" name="Text 15"/>
          <p:cNvSpPr txBox="1"/>
          <p:nvPr/>
        </p:nvSpPr>
        <p:spPr>
          <a:xfrm>
            <a:off x="731520"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 ______</a:t>
            </a:r>
            <a:endParaRPr lang="en-US" sz="1000" dirty="0"/>
          </a:p>
        </p:txBody>
      </p:sp>
      <p:sp>
        <p:nvSpPr>
          <p:cNvPr id="18" name="Text 16"/>
          <p:cNvSpPr txBox="1"/>
          <p:nvPr/>
        </p:nvSpPr>
        <p:spPr>
          <a:xfrm>
            <a:off x="731520"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Team Lead</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&amp; Presenter</a:t>
            </a:r>
            <a:endParaRPr lang="en-US" sz="850" dirty="0"/>
          </a:p>
        </p:txBody>
      </p:sp>
      <p:sp>
        <p:nvSpPr>
          <p:cNvPr id="19" name="Shape 17"/>
          <p:cNvSpPr/>
          <p:nvPr/>
        </p:nvSpPr>
        <p:spPr>
          <a:xfrm>
            <a:off x="2432304" y="4846320"/>
            <a:ext cx="1664208" cy="841248"/>
          </a:xfrm>
          <a:prstGeom prst="roundRect">
            <a:avLst>
              <a:gd name="adj" fmla="val 7609"/>
            </a:avLst>
          </a:prstGeom>
          <a:solidFill>
            <a:srgbClr val="2E3C7E"/>
          </a:solidFill>
          <a:ln w="12700">
            <a:solidFill>
              <a:srgbClr val="2E3C7E"/>
            </a:solidFill>
            <a:prstDash val="solid"/>
          </a:ln>
        </p:spPr>
      </p:sp>
      <p:sp>
        <p:nvSpPr>
          <p:cNvPr id="20" name="Text 18"/>
          <p:cNvSpPr txBox="1"/>
          <p:nvPr/>
        </p:nvSpPr>
        <p:spPr>
          <a:xfrm>
            <a:off x="2523744"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 ______</a:t>
            </a:r>
            <a:endParaRPr lang="en-US" sz="1000" dirty="0"/>
          </a:p>
        </p:txBody>
      </p:sp>
      <p:sp>
        <p:nvSpPr>
          <p:cNvPr id="21" name="Text 19"/>
          <p:cNvSpPr txBox="1"/>
          <p:nvPr/>
        </p:nvSpPr>
        <p:spPr>
          <a:xfrm>
            <a:off x="2523744"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Vision</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&amp; OCR</a:t>
            </a:r>
            <a:endParaRPr lang="en-US" sz="850" dirty="0"/>
          </a:p>
        </p:txBody>
      </p:sp>
      <p:sp>
        <p:nvSpPr>
          <p:cNvPr id="22" name="Shape 20"/>
          <p:cNvSpPr/>
          <p:nvPr/>
        </p:nvSpPr>
        <p:spPr>
          <a:xfrm>
            <a:off x="4224528" y="4846320"/>
            <a:ext cx="1664208" cy="841248"/>
          </a:xfrm>
          <a:prstGeom prst="roundRect">
            <a:avLst>
              <a:gd name="adj" fmla="val 7609"/>
            </a:avLst>
          </a:prstGeom>
          <a:solidFill>
            <a:srgbClr val="2E3C7E"/>
          </a:solidFill>
          <a:ln w="12700">
            <a:solidFill>
              <a:srgbClr val="2E3C7E"/>
            </a:solidFill>
            <a:prstDash val="solid"/>
          </a:ln>
        </p:spPr>
      </p:sp>
      <p:sp>
        <p:nvSpPr>
          <p:cNvPr id="23" name="Text 21"/>
          <p:cNvSpPr txBox="1"/>
          <p:nvPr/>
        </p:nvSpPr>
        <p:spPr>
          <a:xfrm>
            <a:off x="4315968"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 ______</a:t>
            </a:r>
            <a:endParaRPr lang="en-US" sz="1000" dirty="0"/>
          </a:p>
        </p:txBody>
      </p:sp>
      <p:sp>
        <p:nvSpPr>
          <p:cNvPr id="24" name="Text 22"/>
          <p:cNvSpPr txBox="1"/>
          <p:nvPr/>
        </p:nvSpPr>
        <p:spPr>
          <a:xfrm>
            <a:off x="4315968"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Measurement</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(mm scale)</a:t>
            </a:r>
            <a:endParaRPr lang="en-US" sz="850" dirty="0"/>
          </a:p>
        </p:txBody>
      </p:sp>
      <p:sp>
        <p:nvSpPr>
          <p:cNvPr id="25" name="Shape 23"/>
          <p:cNvSpPr/>
          <p:nvPr/>
        </p:nvSpPr>
        <p:spPr>
          <a:xfrm>
            <a:off x="6016752" y="4846320"/>
            <a:ext cx="1664208" cy="841248"/>
          </a:xfrm>
          <a:prstGeom prst="roundRect">
            <a:avLst>
              <a:gd name="adj" fmla="val 7609"/>
            </a:avLst>
          </a:prstGeom>
          <a:solidFill>
            <a:srgbClr val="2E3C7E"/>
          </a:solidFill>
          <a:ln w="12700">
            <a:solidFill>
              <a:srgbClr val="2E3C7E"/>
            </a:solidFill>
            <a:prstDash val="solid"/>
          </a:ln>
        </p:spPr>
      </p:sp>
      <p:sp>
        <p:nvSpPr>
          <p:cNvPr id="26" name="Text 24"/>
          <p:cNvSpPr txBox="1"/>
          <p:nvPr/>
        </p:nvSpPr>
        <p:spPr>
          <a:xfrm>
            <a:off x="6108192"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4. ______</a:t>
            </a:r>
            <a:endParaRPr lang="en-US" sz="1000" dirty="0"/>
          </a:p>
        </p:txBody>
      </p:sp>
      <p:sp>
        <p:nvSpPr>
          <p:cNvPr id="27" name="Text 25"/>
          <p:cNvSpPr txBox="1"/>
          <p:nvPr/>
        </p:nvSpPr>
        <p:spPr>
          <a:xfrm>
            <a:off x="6108192"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Rule Engine</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&amp; Citations</a:t>
            </a:r>
            <a:endParaRPr lang="en-US" sz="850" dirty="0"/>
          </a:p>
        </p:txBody>
      </p:sp>
      <p:sp>
        <p:nvSpPr>
          <p:cNvPr id="28" name="Shape 26"/>
          <p:cNvSpPr/>
          <p:nvPr/>
        </p:nvSpPr>
        <p:spPr>
          <a:xfrm>
            <a:off x="7808976" y="4846320"/>
            <a:ext cx="1664208" cy="841248"/>
          </a:xfrm>
          <a:prstGeom prst="roundRect">
            <a:avLst>
              <a:gd name="adj" fmla="val 7609"/>
            </a:avLst>
          </a:prstGeom>
          <a:solidFill>
            <a:srgbClr val="2E3C7E"/>
          </a:solidFill>
          <a:ln w="12700">
            <a:solidFill>
              <a:srgbClr val="2E3C7E"/>
            </a:solidFill>
            <a:prstDash val="solid"/>
          </a:ln>
        </p:spPr>
      </p:sp>
      <p:sp>
        <p:nvSpPr>
          <p:cNvPr id="29" name="Text 27"/>
          <p:cNvSpPr txBox="1"/>
          <p:nvPr/>
        </p:nvSpPr>
        <p:spPr>
          <a:xfrm>
            <a:off x="7900416"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5. ______</a:t>
            </a:r>
            <a:endParaRPr lang="en-US" sz="1000" dirty="0"/>
          </a:p>
        </p:txBody>
      </p:sp>
      <p:sp>
        <p:nvSpPr>
          <p:cNvPr id="30" name="Text 28"/>
          <p:cNvSpPr txBox="1"/>
          <p:nvPr/>
        </p:nvSpPr>
        <p:spPr>
          <a:xfrm>
            <a:off x="7900416"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Interface</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&amp; Dashboard</a:t>
            </a:r>
            <a:endParaRPr lang="en-US" sz="850" dirty="0"/>
          </a:p>
        </p:txBody>
      </p:sp>
      <p:sp>
        <p:nvSpPr>
          <p:cNvPr id="31" name="Shape 29"/>
          <p:cNvSpPr/>
          <p:nvPr/>
        </p:nvSpPr>
        <p:spPr>
          <a:xfrm>
            <a:off x="9601200" y="4846320"/>
            <a:ext cx="1664208" cy="841248"/>
          </a:xfrm>
          <a:prstGeom prst="roundRect">
            <a:avLst>
              <a:gd name="adj" fmla="val 7609"/>
            </a:avLst>
          </a:prstGeom>
          <a:solidFill>
            <a:srgbClr val="2E3C7E"/>
          </a:solidFill>
          <a:ln w="12700">
            <a:solidFill>
              <a:srgbClr val="2E3C7E"/>
            </a:solidFill>
            <a:prstDash val="solid"/>
          </a:ln>
        </p:spPr>
      </p:sp>
      <p:sp>
        <p:nvSpPr>
          <p:cNvPr id="32" name="Text 30"/>
          <p:cNvSpPr txBox="1"/>
          <p:nvPr/>
        </p:nvSpPr>
        <p:spPr>
          <a:xfrm>
            <a:off x="9692640" y="4937760"/>
            <a:ext cx="1481328"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6. ______</a:t>
            </a:r>
            <a:endParaRPr lang="en-US" sz="1000" dirty="0"/>
          </a:p>
        </p:txBody>
      </p:sp>
      <p:sp>
        <p:nvSpPr>
          <p:cNvPr id="33" name="Text 31"/>
          <p:cNvSpPr txBox="1"/>
          <p:nvPr/>
        </p:nvSpPr>
        <p:spPr>
          <a:xfrm>
            <a:off x="9692640" y="5157216"/>
            <a:ext cx="1481328" cy="457200"/>
          </a:xfrm>
          <a:prstGeom prst="rect">
            <a:avLst/>
          </a:prstGeom>
          <a:noFill/>
          <a:ln/>
        </p:spPr>
        <p:txBody>
          <a:bodyPr wrap="square" lIns="0" tIns="0" rIns="0" bIns="0" rtlCol="0" anchor="ctr"/>
          <a:lstStyle/>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Research</a:t>
            </a:r>
            <a:endParaRPr lang="en-US" sz="850" dirty="0"/>
          </a:p>
          <a:p>
            <a:pPr indent="0" marL="0">
              <a:lnSpc>
                <a:spcPct val="100000"/>
              </a:lnSpc>
              <a:buNone/>
            </a:pPr>
            <a:r>
              <a:rPr lang="en-US" sz="850" dirty="0">
                <a:solidFill>
                  <a:srgbClr val="CADCFC"/>
                </a:solidFill>
                <a:latin typeface="Calibri" pitchFamily="34" charset="0"/>
                <a:ea typeface="Calibri" pitchFamily="34" charset="-122"/>
                <a:cs typeface="Calibri" pitchFamily="34" charset="-120"/>
              </a:rPr>
              <a:t>&amp; Field Data</a:t>
            </a:r>
            <a:endParaRPr lang="en-US" sz="850" dirty="0"/>
          </a:p>
        </p:txBody>
      </p:sp>
      <p:sp>
        <p:nvSpPr>
          <p:cNvPr id="34" name="Text 32"/>
          <p:cNvSpPr txBox="1"/>
          <p:nvPr/>
        </p:nvSpPr>
        <p:spPr>
          <a:xfrm>
            <a:off x="640080" y="6035040"/>
            <a:ext cx="10515600" cy="274320"/>
          </a:xfrm>
          <a:prstGeom prst="rect">
            <a:avLst/>
          </a:prstGeom>
          <a:noFill/>
          <a:ln/>
        </p:spPr>
        <p:txBody>
          <a:bodyPr wrap="square" lIns="0" tIns="0" rIns="0" bIns="0" rtlCol="0" anchor="ctr"/>
          <a:lstStyle/>
          <a:p>
            <a:pPr indent="0" marL="0">
              <a:buNone/>
            </a:pPr>
            <a:r>
              <a:rPr lang="en-US" sz="1050" dirty="0">
                <a:solidFill>
                  <a:srgbClr val="8FA6D8"/>
                </a:solidFill>
                <a:latin typeface="Calibri" pitchFamily="34" charset="0"/>
                <a:ea typeface="Calibri" pitchFamily="34" charset="-122"/>
                <a:cs typeface="Calibri" pitchFamily="34" charset="-120"/>
              </a:rPr>
              <a:t>Smart India Hackathon 2026  ·  Idea Submission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566928"/>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Proposed Solution</a:t>
            </a:r>
            <a:endParaRPr lang="en-US" sz="3400" dirty="0"/>
          </a:p>
        </p:txBody>
      </p:sp>
      <p:sp>
        <p:nvSpPr>
          <p:cNvPr id="3" name="Text 1"/>
          <p:cNvSpPr txBox="1"/>
          <p:nvPr/>
        </p:nvSpPr>
        <p:spPr>
          <a:xfrm>
            <a:off x="548640" y="914400"/>
            <a:ext cx="10058400" cy="256032"/>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Detailed explanation  ·  How it addresses the problem  ·  Innovation and uniqueness</a:t>
            </a:r>
            <a:endParaRPr lang="en-US" sz="1150" dirty="0"/>
          </a:p>
        </p:txBody>
      </p:sp>
      <p:sp>
        <p:nvSpPr>
          <p:cNvPr id="4" name="Shape 2"/>
          <p:cNvSpPr/>
          <p:nvPr/>
        </p:nvSpPr>
        <p:spPr>
          <a:xfrm>
            <a:off x="548640" y="1325880"/>
            <a:ext cx="6400800" cy="1207008"/>
          </a:xfrm>
          <a:prstGeom prst="roundRect">
            <a:avLst>
              <a:gd name="adj" fmla="val 6061"/>
            </a:avLst>
          </a:prstGeom>
          <a:solidFill>
            <a:srgbClr val="EEF2FB"/>
          </a:solidFill>
          <a:ln w="12700">
            <a:solidFill>
              <a:srgbClr val="DAE3F5"/>
            </a:solidFill>
            <a:prstDash val="solid"/>
          </a:ln>
        </p:spPr>
      </p:sp>
      <p:sp>
        <p:nvSpPr>
          <p:cNvPr id="5" name="Text 3"/>
          <p:cNvSpPr txBox="1"/>
          <p:nvPr/>
        </p:nvSpPr>
        <p:spPr>
          <a:xfrm>
            <a:off x="777240" y="1463040"/>
            <a:ext cx="5943600" cy="932688"/>
          </a:xfrm>
          <a:prstGeom prst="rect">
            <a:avLst/>
          </a:prstGeom>
          <a:noFill/>
          <a:ln/>
        </p:spPr>
        <p:txBody>
          <a:bodyPr wrap="square" lIns="0" tIns="0" rIns="0" bIns="0" rtlCol="0" anchor="ctr"/>
          <a:lstStyle/>
          <a:p>
            <a:pPr indent="0" marL="0">
              <a:lnSpc>
                <a:spcPct val="112000"/>
              </a:lnSpc>
              <a:buNone/>
            </a:pPr>
            <a:r>
              <a:rPr lang="en-US" sz="1300" dirty="0">
                <a:solidFill>
                  <a:srgbClr val="1A1F36"/>
                </a:solidFill>
                <a:latin typeface="Calibri" pitchFamily="34" charset="0"/>
                <a:ea typeface="Calibri" pitchFamily="34" charset="-122"/>
                <a:cs typeface="Calibri" pitchFamily="34" charset="-120"/>
              </a:rPr>
              <a:t>Photograph a packet next to a small printed reference card. </a:t>
            </a:r>
            <a:pPr indent="0" marL="0">
              <a:lnSpc>
                <a:spcPct val="112000"/>
              </a:lnSpc>
              <a:buNone/>
            </a:pPr>
            <a:r>
              <a:rPr lang="en-US" sz="1300" b="1" dirty="0">
                <a:solidFill>
                  <a:srgbClr val="1E2761"/>
                </a:solidFill>
                <a:latin typeface="Calibri" pitchFamily="34" charset="0"/>
                <a:ea typeface="Calibri" pitchFamily="34" charset="-122"/>
                <a:cs typeface="Calibri" pitchFamily="34" charset="-120"/>
              </a:rPr>
              <a:t>The system reads all nine mandatory declarations, measures the printed letter heights in millimetres, </a:t>
            </a:r>
            <a:pPr indent="0" marL="0">
              <a:lnSpc>
                <a:spcPct val="112000"/>
              </a:lnSpc>
              <a:buNone/>
            </a:pPr>
            <a:r>
              <a:rPr lang="en-US" sz="1300" dirty="0">
                <a:solidFill>
                  <a:srgbClr val="1A1F36"/>
                </a:solidFill>
                <a:latin typeface="Calibri" pitchFamily="34" charset="0"/>
                <a:ea typeface="Calibri" pitchFamily="34" charset="-122"/>
                <a:cs typeface="Calibri" pitchFamily="34" charset="-120"/>
              </a:rPr>
              <a:t>checks them against the Legal Metrology (Packaged Commodities) Rules, 2011, and issues a rule-by-rule report card citing the exact rule behind every failure.</a:t>
            </a:r>
            <a:endParaRPr lang="en-US" sz="1300" dirty="0"/>
          </a:p>
        </p:txBody>
      </p:sp>
      <p:sp>
        <p:nvSpPr>
          <p:cNvPr id="6" name="Text 4"/>
          <p:cNvSpPr txBox="1"/>
          <p:nvPr/>
        </p:nvSpPr>
        <p:spPr>
          <a:xfrm>
            <a:off x="548640" y="2697480"/>
            <a:ext cx="6400800" cy="237744"/>
          </a:xfrm>
          <a:prstGeom prst="rect">
            <a:avLst/>
          </a:prstGeom>
          <a:noFill/>
          <a:ln/>
        </p:spPr>
        <p:txBody>
          <a:bodyPr wrap="square" lIns="0" tIns="0" rIns="0" bIns="0" rtlCol="0" anchor="ctr"/>
          <a:lstStyle/>
          <a:p>
            <a:pPr indent="0" marL="0">
              <a:buNone/>
            </a:pPr>
            <a:r>
              <a:rPr lang="en-US" sz="1000" b="1" spc="120" kern="0" dirty="0">
                <a:solidFill>
                  <a:srgbClr val="5A6480"/>
                </a:solidFill>
                <a:latin typeface="Calibri" pitchFamily="34" charset="0"/>
                <a:ea typeface="Calibri" pitchFamily="34" charset="-122"/>
                <a:cs typeface="Calibri" pitchFamily="34" charset="-120"/>
              </a:rPr>
              <a:t>WHAT MAKES IT DIFFERENT</a:t>
            </a:r>
            <a:endParaRPr lang="en-US" sz="1000" dirty="0"/>
          </a:p>
        </p:txBody>
      </p:sp>
      <p:sp>
        <p:nvSpPr>
          <p:cNvPr id="7" name="Shape 5"/>
          <p:cNvSpPr/>
          <p:nvPr/>
        </p:nvSpPr>
        <p:spPr>
          <a:xfrm>
            <a:off x="566928" y="3044952"/>
            <a:ext cx="347472" cy="347472"/>
          </a:xfrm>
          <a:prstGeom prst="ellipse">
            <a:avLst/>
          </a:prstGeom>
          <a:solidFill>
            <a:srgbClr val="1E2761"/>
          </a:solidFill>
          <a:ln w="12700">
            <a:solidFill>
              <a:srgbClr val="1E2761"/>
            </a:solidFill>
            <a:prstDash val="solid"/>
          </a:ln>
        </p:spPr>
      </p:sp>
      <p:sp>
        <p:nvSpPr>
          <p:cNvPr id="8" name="Text 6"/>
          <p:cNvSpPr txBox="1"/>
          <p:nvPr/>
        </p:nvSpPr>
        <p:spPr>
          <a:xfrm>
            <a:off x="566928" y="30449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51560" y="3017520"/>
            <a:ext cx="58978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We measure, we don't just read</a:t>
            </a:r>
            <a:endParaRPr lang="en-US" sz="1350" dirty="0"/>
          </a:p>
        </p:txBody>
      </p:sp>
      <p:sp>
        <p:nvSpPr>
          <p:cNvPr id="10" name="Text 8"/>
          <p:cNvSpPr txBox="1"/>
          <p:nvPr/>
        </p:nvSpPr>
        <p:spPr>
          <a:xfrm>
            <a:off x="1051560" y="3291840"/>
            <a:ext cx="5897880" cy="676656"/>
          </a:xfrm>
          <a:prstGeom prst="rect">
            <a:avLst/>
          </a:prstGeom>
          <a:noFill/>
          <a:ln/>
        </p:spPr>
        <p:txBody>
          <a:bodyPr wrap="square" lIns="0" tIns="0" rIns="0" bIns="0" rtlCol="0" anchor="t"/>
          <a:lstStyle/>
          <a:p>
            <a:pPr indent="0" marL="0">
              <a:lnSpc>
                <a:spcPct val="110000"/>
              </a:lnSpc>
              <a:buNone/>
            </a:pPr>
            <a:r>
              <a:rPr lang="en-US" sz="1050" dirty="0">
                <a:solidFill>
                  <a:srgbClr val="5A6480"/>
                </a:solidFill>
                <a:latin typeface="Calibri" pitchFamily="34" charset="0"/>
                <a:ea typeface="Calibri" pitchFamily="34" charset="-122"/>
                <a:cs typeface="Calibri" pitchFamily="34" charset="-120"/>
              </a:rPr>
              <a:t>Rule 7 sets minimum letter heights of 1.0–6.0 mm based on panel area. A marker of known size gives us millimetres-per-pixel. Text extraction alone cannot catch this violation.</a:t>
            </a:r>
            <a:endParaRPr lang="en-US" sz="1050" dirty="0"/>
          </a:p>
        </p:txBody>
      </p:sp>
      <p:sp>
        <p:nvSpPr>
          <p:cNvPr id="11" name="Shape 9"/>
          <p:cNvSpPr/>
          <p:nvPr/>
        </p:nvSpPr>
        <p:spPr>
          <a:xfrm>
            <a:off x="566928" y="4105656"/>
            <a:ext cx="347472" cy="347472"/>
          </a:xfrm>
          <a:prstGeom prst="ellipse">
            <a:avLst/>
          </a:prstGeom>
          <a:solidFill>
            <a:srgbClr val="1E2761"/>
          </a:solidFill>
          <a:ln w="12700">
            <a:solidFill>
              <a:srgbClr val="1E2761"/>
            </a:solidFill>
            <a:prstDash val="solid"/>
          </a:ln>
        </p:spPr>
      </p:sp>
      <p:sp>
        <p:nvSpPr>
          <p:cNvPr id="12" name="Text 10"/>
          <p:cNvSpPr txBox="1"/>
          <p:nvPr/>
        </p:nvSpPr>
        <p:spPr>
          <a:xfrm>
            <a:off x="566928" y="4105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51560" y="4078224"/>
            <a:ext cx="58978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We never guess a violation</a:t>
            </a:r>
            <a:endParaRPr lang="en-US" sz="1350" dirty="0"/>
          </a:p>
        </p:txBody>
      </p:sp>
      <p:sp>
        <p:nvSpPr>
          <p:cNvPr id="14" name="Text 12"/>
          <p:cNvSpPr txBox="1"/>
          <p:nvPr/>
        </p:nvSpPr>
        <p:spPr>
          <a:xfrm>
            <a:off x="1051560" y="4352544"/>
            <a:ext cx="5897880" cy="676656"/>
          </a:xfrm>
          <a:prstGeom prst="rect">
            <a:avLst/>
          </a:prstGeom>
          <a:noFill/>
          <a:ln/>
        </p:spPr>
        <p:txBody>
          <a:bodyPr wrap="square" lIns="0" tIns="0" rIns="0" bIns="0" rtlCol="0" anchor="t"/>
          <a:lstStyle/>
          <a:p>
            <a:pPr indent="0" marL="0">
              <a:lnSpc>
                <a:spcPct val="110000"/>
              </a:lnSpc>
              <a:buNone/>
            </a:pPr>
            <a:r>
              <a:rPr lang="en-US" sz="1050" dirty="0">
                <a:solidFill>
                  <a:srgbClr val="5A6480"/>
                </a:solidFill>
                <a:latin typeface="Calibri" pitchFamily="34" charset="0"/>
                <a:ea typeface="Calibri" pitchFamily="34" charset="-122"/>
                <a:cs typeface="Calibri" pitchFamily="34" charset="-120"/>
              </a:rPr>
              <a:t>A blurry photo, a missing marker or a borderline reading returns NEEDS PHYSICAL CHECK — not FAIL. A wrong accusation against a shopkeeper is worse than no answer.</a:t>
            </a:r>
            <a:endParaRPr lang="en-US" sz="1050" dirty="0"/>
          </a:p>
        </p:txBody>
      </p:sp>
      <p:sp>
        <p:nvSpPr>
          <p:cNvPr id="15" name="Shape 13"/>
          <p:cNvSpPr/>
          <p:nvPr/>
        </p:nvSpPr>
        <p:spPr>
          <a:xfrm>
            <a:off x="566928" y="5166360"/>
            <a:ext cx="347472" cy="347472"/>
          </a:xfrm>
          <a:prstGeom prst="ellipse">
            <a:avLst/>
          </a:prstGeom>
          <a:solidFill>
            <a:srgbClr val="1E2761"/>
          </a:solidFill>
          <a:ln w="12700">
            <a:solidFill>
              <a:srgbClr val="1E2761"/>
            </a:solidFill>
            <a:prstDash val="solid"/>
          </a:ln>
        </p:spPr>
      </p:sp>
      <p:sp>
        <p:nvSpPr>
          <p:cNvPr id="16" name="Text 14"/>
          <p:cNvSpPr txBox="1"/>
          <p:nvPr/>
        </p:nvSpPr>
        <p:spPr>
          <a:xfrm>
            <a:off x="566928" y="5166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51560" y="5138928"/>
            <a:ext cx="58978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Rules live in a file, not in the code</a:t>
            </a:r>
            <a:endParaRPr lang="en-US" sz="1350" dirty="0"/>
          </a:p>
        </p:txBody>
      </p:sp>
      <p:sp>
        <p:nvSpPr>
          <p:cNvPr id="18" name="Text 16"/>
          <p:cNvSpPr txBox="1"/>
          <p:nvPr/>
        </p:nvSpPr>
        <p:spPr>
          <a:xfrm>
            <a:off x="1051560" y="5413248"/>
            <a:ext cx="5897880" cy="676656"/>
          </a:xfrm>
          <a:prstGeom prst="rect">
            <a:avLst/>
          </a:prstGeom>
          <a:noFill/>
          <a:ln/>
        </p:spPr>
        <p:txBody>
          <a:bodyPr wrap="square" lIns="0" tIns="0" rIns="0" bIns="0" rtlCol="0" anchor="t"/>
          <a:lstStyle/>
          <a:p>
            <a:pPr indent="0" marL="0">
              <a:lnSpc>
                <a:spcPct val="110000"/>
              </a:lnSpc>
              <a:buNone/>
            </a:pPr>
            <a:r>
              <a:rPr lang="en-US" sz="1050" dirty="0">
                <a:solidFill>
                  <a:srgbClr val="5A6480"/>
                </a:solidFill>
                <a:latin typeface="Calibri" pitchFamily="34" charset="0"/>
                <a:ea typeface="Calibri" pitchFamily="34" charset="-122"/>
                <a:cs typeface="Calibri" pitchFamily="34" charset="-120"/>
              </a:rPr>
              <a:t>The Rules were amended in 2021, 2022, 2023, 2025 and 2026. Ours are editable JSON with valid-from dates, so an officer updates a file — no reprogramming.</a:t>
            </a:r>
            <a:endParaRPr lang="en-US" sz="1050" dirty="0"/>
          </a:p>
        </p:txBody>
      </p:sp>
      <p:sp>
        <p:nvSpPr>
          <p:cNvPr id="19" name="Shape 17"/>
          <p:cNvSpPr/>
          <p:nvPr/>
        </p:nvSpPr>
        <p:spPr>
          <a:xfrm>
            <a:off x="7360920" y="1325880"/>
            <a:ext cx="4279392" cy="4892040"/>
          </a:xfrm>
          <a:prstGeom prst="roundRect">
            <a:avLst>
              <a:gd name="adj" fmla="val 1709"/>
            </a:avLst>
          </a:prstGeom>
          <a:solidFill>
            <a:srgbClr val="FFFFFF"/>
          </a:solidFill>
          <a:ln w="12700">
            <a:solidFill>
              <a:srgbClr val="D5DCEC"/>
            </a:solidFill>
            <a:prstDash val="solid"/>
          </a:ln>
        </p:spPr>
      </p:sp>
      <p:sp>
        <p:nvSpPr>
          <p:cNvPr id="20" name="Text 18"/>
          <p:cNvSpPr txBox="1"/>
          <p:nvPr/>
        </p:nvSpPr>
        <p:spPr>
          <a:xfrm>
            <a:off x="7616952" y="1517904"/>
            <a:ext cx="3767328" cy="237744"/>
          </a:xfrm>
          <a:prstGeom prst="rect">
            <a:avLst/>
          </a:prstGeom>
          <a:noFill/>
          <a:ln/>
        </p:spPr>
        <p:txBody>
          <a:bodyPr wrap="square" lIns="0" tIns="0" rIns="0" bIns="0" rtlCol="0" anchor="ctr"/>
          <a:lstStyle/>
          <a:p>
            <a:pPr indent="0" marL="0">
              <a:buNone/>
            </a:pPr>
            <a:r>
              <a:rPr lang="en-US" sz="1000" b="1" spc="120" kern="0" dirty="0">
                <a:solidFill>
                  <a:srgbClr val="5A6480"/>
                </a:solidFill>
                <a:latin typeface="Calibri" pitchFamily="34" charset="0"/>
                <a:ea typeface="Calibri" pitchFamily="34" charset="-122"/>
                <a:cs typeface="Calibri" pitchFamily="34" charset="-120"/>
              </a:rPr>
              <a:t>COMPLIANCE REPORT CARD</a:t>
            </a:r>
            <a:endParaRPr lang="en-US" sz="1000" dirty="0"/>
          </a:p>
        </p:txBody>
      </p:sp>
      <p:sp>
        <p:nvSpPr>
          <p:cNvPr id="21" name="Text 19"/>
          <p:cNvSpPr txBox="1"/>
          <p:nvPr/>
        </p:nvSpPr>
        <p:spPr>
          <a:xfrm>
            <a:off x="7616952" y="1737360"/>
            <a:ext cx="3767328" cy="219456"/>
          </a:xfrm>
          <a:prstGeom prst="rect">
            <a:avLst/>
          </a:prstGeom>
          <a:noFill/>
          <a:ln/>
        </p:spPr>
        <p:txBody>
          <a:bodyPr wrap="square" lIns="0" tIns="0" rIns="0" bIns="0" rtlCol="0" anchor="ctr"/>
          <a:lstStyle/>
          <a:p>
            <a:pPr indent="0" marL="0">
              <a:buNone/>
            </a:pPr>
            <a:r>
              <a:rPr lang="en-US" sz="1000" dirty="0">
                <a:solidFill>
                  <a:srgbClr val="5A6480"/>
                </a:solidFill>
                <a:latin typeface="Calibri" pitchFamily="34" charset="0"/>
                <a:ea typeface="Calibri" pitchFamily="34" charset="-122"/>
                <a:cs typeface="Calibri" pitchFamily="34" charset="-120"/>
              </a:rPr>
              <a:t>Parle-G Biscuits  ·  scanned 04 Sep 2026</a:t>
            </a:r>
            <a:endParaRPr lang="en-US" sz="1000" dirty="0"/>
          </a:p>
        </p:txBody>
      </p:sp>
      <p:sp>
        <p:nvSpPr>
          <p:cNvPr id="22" name="Shape 20"/>
          <p:cNvSpPr/>
          <p:nvPr/>
        </p:nvSpPr>
        <p:spPr>
          <a:xfrm>
            <a:off x="7616952" y="2176272"/>
            <a:ext cx="274320" cy="274320"/>
          </a:xfrm>
          <a:prstGeom prst="ellipse">
            <a:avLst/>
          </a:prstGeom>
          <a:solidFill>
            <a:srgbClr val="2C8A5A"/>
          </a:solidFill>
          <a:ln w="12700">
            <a:solidFill>
              <a:srgbClr val="2C8A5A"/>
            </a:solidFill>
            <a:prstDash val="solid"/>
          </a:ln>
        </p:spPr>
      </p:sp>
      <p:pic>
        <p:nvPicPr>
          <p:cNvPr id="23" name="Image 0" descr="preencoded.png">    </p:cNvPr>
          <p:cNvPicPr>
            <a:picLocks noChangeAspect="1"/>
          </p:cNvPicPr>
          <p:nvPr/>
        </p:nvPicPr>
        <p:blipFill>
          <a:blip r:embed="rId1"/>
          <a:stretch>
            <a:fillRect/>
          </a:stretch>
        </p:blipFill>
        <p:spPr>
          <a:xfrm>
            <a:off x="7685532" y="2244852"/>
            <a:ext cx="137160" cy="137160"/>
          </a:xfrm>
          <a:prstGeom prst="rect">
            <a:avLst/>
          </a:prstGeom>
        </p:spPr>
      </p:pic>
      <p:sp>
        <p:nvSpPr>
          <p:cNvPr id="24" name="Text 21"/>
          <p:cNvSpPr txBox="1"/>
          <p:nvPr/>
        </p:nvSpPr>
        <p:spPr>
          <a:xfrm>
            <a:off x="7982712" y="2121408"/>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Manufacturer name &amp; address</a:t>
            </a:r>
            <a:endParaRPr lang="en-US" sz="1100" dirty="0"/>
          </a:p>
        </p:txBody>
      </p:sp>
      <p:sp>
        <p:nvSpPr>
          <p:cNvPr id="25" name="Text 22"/>
          <p:cNvSpPr txBox="1"/>
          <p:nvPr/>
        </p:nvSpPr>
        <p:spPr>
          <a:xfrm>
            <a:off x="7982712" y="2340864"/>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6(1)(a)</a:t>
            </a:r>
            <a:endParaRPr lang="en-US" sz="950" dirty="0"/>
          </a:p>
        </p:txBody>
      </p:sp>
      <p:sp>
        <p:nvSpPr>
          <p:cNvPr id="26" name="Shape 23"/>
          <p:cNvSpPr/>
          <p:nvPr/>
        </p:nvSpPr>
        <p:spPr>
          <a:xfrm>
            <a:off x="7616952" y="2743200"/>
            <a:ext cx="274320" cy="274320"/>
          </a:xfrm>
          <a:prstGeom prst="ellipse">
            <a:avLst/>
          </a:prstGeom>
          <a:solidFill>
            <a:srgbClr val="2C8A5A"/>
          </a:solidFill>
          <a:ln w="12700">
            <a:solidFill>
              <a:srgbClr val="2C8A5A"/>
            </a:solidFill>
            <a:prstDash val="solid"/>
          </a:ln>
        </p:spPr>
      </p:sp>
      <p:pic>
        <p:nvPicPr>
          <p:cNvPr id="27" name="Image 1" descr="preencoded.png">    </p:cNvPr>
          <p:cNvPicPr>
            <a:picLocks noChangeAspect="1"/>
          </p:cNvPicPr>
          <p:nvPr/>
        </p:nvPicPr>
        <p:blipFill>
          <a:blip r:embed="rId2"/>
          <a:stretch>
            <a:fillRect/>
          </a:stretch>
        </p:blipFill>
        <p:spPr>
          <a:xfrm>
            <a:off x="7685532" y="2811780"/>
            <a:ext cx="137160" cy="137160"/>
          </a:xfrm>
          <a:prstGeom prst="rect">
            <a:avLst/>
          </a:prstGeom>
        </p:spPr>
      </p:pic>
      <p:sp>
        <p:nvSpPr>
          <p:cNvPr id="28" name="Text 24"/>
          <p:cNvSpPr txBox="1"/>
          <p:nvPr/>
        </p:nvSpPr>
        <p:spPr>
          <a:xfrm>
            <a:off x="7982712" y="2688336"/>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Net quantity  —  “200 g”</a:t>
            </a:r>
            <a:endParaRPr lang="en-US" sz="1100" dirty="0"/>
          </a:p>
        </p:txBody>
      </p:sp>
      <p:sp>
        <p:nvSpPr>
          <p:cNvPr id="29" name="Text 25"/>
          <p:cNvSpPr txBox="1"/>
          <p:nvPr/>
        </p:nvSpPr>
        <p:spPr>
          <a:xfrm>
            <a:off x="7982712" y="2907792"/>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6(1)(c)</a:t>
            </a:r>
            <a:endParaRPr lang="en-US" sz="950" dirty="0"/>
          </a:p>
        </p:txBody>
      </p:sp>
      <p:sp>
        <p:nvSpPr>
          <p:cNvPr id="30" name="Shape 26"/>
          <p:cNvSpPr/>
          <p:nvPr/>
        </p:nvSpPr>
        <p:spPr>
          <a:xfrm>
            <a:off x="7616952" y="3310128"/>
            <a:ext cx="274320" cy="274320"/>
          </a:xfrm>
          <a:prstGeom prst="ellipse">
            <a:avLst/>
          </a:prstGeom>
          <a:solidFill>
            <a:srgbClr val="2C8A5A"/>
          </a:solidFill>
          <a:ln w="12700">
            <a:solidFill>
              <a:srgbClr val="2C8A5A"/>
            </a:solidFill>
            <a:prstDash val="solid"/>
          </a:ln>
        </p:spPr>
      </p:sp>
      <p:pic>
        <p:nvPicPr>
          <p:cNvPr id="31" name="Image 2" descr="preencoded.png">    </p:cNvPr>
          <p:cNvPicPr>
            <a:picLocks noChangeAspect="1"/>
          </p:cNvPicPr>
          <p:nvPr/>
        </p:nvPicPr>
        <p:blipFill>
          <a:blip r:embed="rId3"/>
          <a:stretch>
            <a:fillRect/>
          </a:stretch>
        </p:blipFill>
        <p:spPr>
          <a:xfrm>
            <a:off x="7685532" y="3378708"/>
            <a:ext cx="137160" cy="137160"/>
          </a:xfrm>
          <a:prstGeom prst="rect">
            <a:avLst/>
          </a:prstGeom>
        </p:spPr>
      </p:pic>
      <p:sp>
        <p:nvSpPr>
          <p:cNvPr id="32" name="Text 27"/>
          <p:cNvSpPr txBox="1"/>
          <p:nvPr/>
        </p:nvSpPr>
        <p:spPr>
          <a:xfrm>
            <a:off x="7982712" y="3255264"/>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Month &amp; year of packing</a:t>
            </a:r>
            <a:endParaRPr lang="en-US" sz="1100" dirty="0"/>
          </a:p>
        </p:txBody>
      </p:sp>
      <p:sp>
        <p:nvSpPr>
          <p:cNvPr id="33" name="Text 28"/>
          <p:cNvSpPr txBox="1"/>
          <p:nvPr/>
        </p:nvSpPr>
        <p:spPr>
          <a:xfrm>
            <a:off x="7982712" y="3474720"/>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6(1)(d)</a:t>
            </a:r>
            <a:endParaRPr lang="en-US" sz="950" dirty="0"/>
          </a:p>
        </p:txBody>
      </p:sp>
      <p:sp>
        <p:nvSpPr>
          <p:cNvPr id="34" name="Shape 29"/>
          <p:cNvSpPr/>
          <p:nvPr/>
        </p:nvSpPr>
        <p:spPr>
          <a:xfrm>
            <a:off x="7616952" y="3877056"/>
            <a:ext cx="274320" cy="274320"/>
          </a:xfrm>
          <a:prstGeom prst="ellipse">
            <a:avLst/>
          </a:prstGeom>
          <a:solidFill>
            <a:srgbClr val="C0392B"/>
          </a:solidFill>
          <a:ln w="12700">
            <a:solidFill>
              <a:srgbClr val="C0392B"/>
            </a:solidFill>
            <a:prstDash val="solid"/>
          </a:ln>
        </p:spPr>
      </p:sp>
      <p:pic>
        <p:nvPicPr>
          <p:cNvPr id="35" name="Image 3" descr="preencoded.png">    </p:cNvPr>
          <p:cNvPicPr>
            <a:picLocks noChangeAspect="1"/>
          </p:cNvPicPr>
          <p:nvPr/>
        </p:nvPicPr>
        <p:blipFill>
          <a:blip r:embed="rId4"/>
          <a:stretch>
            <a:fillRect/>
          </a:stretch>
        </p:blipFill>
        <p:spPr>
          <a:xfrm>
            <a:off x="7685532" y="3945636"/>
            <a:ext cx="137160" cy="137160"/>
          </a:xfrm>
          <a:prstGeom prst="rect">
            <a:avLst/>
          </a:prstGeom>
        </p:spPr>
      </p:pic>
      <p:sp>
        <p:nvSpPr>
          <p:cNvPr id="36" name="Text 30"/>
          <p:cNvSpPr txBox="1"/>
          <p:nvPr/>
        </p:nvSpPr>
        <p:spPr>
          <a:xfrm>
            <a:off x="7982712" y="3822192"/>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MRP missing “inclusive of all taxes”</a:t>
            </a:r>
            <a:endParaRPr lang="en-US" sz="1100" dirty="0"/>
          </a:p>
        </p:txBody>
      </p:sp>
      <p:sp>
        <p:nvSpPr>
          <p:cNvPr id="37" name="Text 31"/>
          <p:cNvSpPr txBox="1"/>
          <p:nvPr/>
        </p:nvSpPr>
        <p:spPr>
          <a:xfrm>
            <a:off x="7982712" y="4041648"/>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6(1)(e)</a:t>
            </a:r>
            <a:endParaRPr lang="en-US" sz="950" dirty="0"/>
          </a:p>
        </p:txBody>
      </p:sp>
      <p:sp>
        <p:nvSpPr>
          <p:cNvPr id="38" name="Shape 32"/>
          <p:cNvSpPr/>
          <p:nvPr/>
        </p:nvSpPr>
        <p:spPr>
          <a:xfrm>
            <a:off x="7616952" y="4443984"/>
            <a:ext cx="274320" cy="274320"/>
          </a:xfrm>
          <a:prstGeom prst="ellipse">
            <a:avLst/>
          </a:prstGeom>
          <a:solidFill>
            <a:srgbClr val="C0392B"/>
          </a:solidFill>
          <a:ln w="12700">
            <a:solidFill>
              <a:srgbClr val="C0392B"/>
            </a:solidFill>
            <a:prstDash val="solid"/>
          </a:ln>
        </p:spPr>
      </p:sp>
      <p:pic>
        <p:nvPicPr>
          <p:cNvPr id="39" name="Image 4" descr="preencoded.png">    </p:cNvPr>
          <p:cNvPicPr>
            <a:picLocks noChangeAspect="1"/>
          </p:cNvPicPr>
          <p:nvPr/>
        </p:nvPicPr>
        <p:blipFill>
          <a:blip r:embed="rId5"/>
          <a:stretch>
            <a:fillRect/>
          </a:stretch>
        </p:blipFill>
        <p:spPr>
          <a:xfrm>
            <a:off x="7685532" y="4512564"/>
            <a:ext cx="137160" cy="137160"/>
          </a:xfrm>
          <a:prstGeom prst="rect">
            <a:avLst/>
          </a:prstGeom>
        </p:spPr>
      </p:pic>
      <p:sp>
        <p:nvSpPr>
          <p:cNvPr id="40" name="Text 33"/>
          <p:cNvSpPr txBox="1"/>
          <p:nvPr/>
        </p:nvSpPr>
        <p:spPr>
          <a:xfrm>
            <a:off x="7982712" y="4389120"/>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Letter height 2.1 mm — needs 2.5 mm</a:t>
            </a:r>
            <a:endParaRPr lang="en-US" sz="1100" dirty="0"/>
          </a:p>
        </p:txBody>
      </p:sp>
      <p:sp>
        <p:nvSpPr>
          <p:cNvPr id="41" name="Text 34"/>
          <p:cNvSpPr txBox="1"/>
          <p:nvPr/>
        </p:nvSpPr>
        <p:spPr>
          <a:xfrm>
            <a:off x="7982712" y="4608576"/>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7(2), Table-I</a:t>
            </a:r>
            <a:endParaRPr lang="en-US" sz="950" dirty="0"/>
          </a:p>
        </p:txBody>
      </p:sp>
      <p:sp>
        <p:nvSpPr>
          <p:cNvPr id="42" name="Shape 35"/>
          <p:cNvSpPr/>
          <p:nvPr/>
        </p:nvSpPr>
        <p:spPr>
          <a:xfrm>
            <a:off x="7616952" y="5010912"/>
            <a:ext cx="274320" cy="274320"/>
          </a:xfrm>
          <a:prstGeom prst="ellipse">
            <a:avLst/>
          </a:prstGeom>
          <a:solidFill>
            <a:srgbClr val="D99A20"/>
          </a:solidFill>
          <a:ln w="12700">
            <a:solidFill>
              <a:srgbClr val="D99A20"/>
            </a:solidFill>
            <a:prstDash val="solid"/>
          </a:ln>
        </p:spPr>
      </p:sp>
      <p:pic>
        <p:nvPicPr>
          <p:cNvPr id="43" name="Image 5" descr="preencoded.png">    </p:cNvPr>
          <p:cNvPicPr>
            <a:picLocks noChangeAspect="1"/>
          </p:cNvPicPr>
          <p:nvPr/>
        </p:nvPicPr>
        <p:blipFill>
          <a:blip r:embed="rId6"/>
          <a:stretch>
            <a:fillRect/>
          </a:stretch>
        </p:blipFill>
        <p:spPr>
          <a:xfrm>
            <a:off x="7685532" y="5079492"/>
            <a:ext cx="137160" cy="137160"/>
          </a:xfrm>
          <a:prstGeom prst="rect">
            <a:avLst/>
          </a:prstGeom>
        </p:spPr>
      </p:pic>
      <p:sp>
        <p:nvSpPr>
          <p:cNvPr id="44" name="Text 36"/>
          <p:cNvSpPr txBox="1"/>
          <p:nvPr/>
        </p:nvSpPr>
        <p:spPr>
          <a:xfrm>
            <a:off x="7982712" y="4956048"/>
            <a:ext cx="3401568" cy="237744"/>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Consumer care unclear — physical check</a:t>
            </a:r>
            <a:endParaRPr lang="en-US" sz="1100" dirty="0"/>
          </a:p>
        </p:txBody>
      </p:sp>
      <p:sp>
        <p:nvSpPr>
          <p:cNvPr id="45" name="Text 37"/>
          <p:cNvSpPr txBox="1"/>
          <p:nvPr/>
        </p:nvSpPr>
        <p:spPr>
          <a:xfrm>
            <a:off x="7982712" y="5175504"/>
            <a:ext cx="3401568" cy="201168"/>
          </a:xfrm>
          <a:prstGeom prst="rect">
            <a:avLst/>
          </a:prstGeom>
          <a:noFill/>
          <a:ln/>
        </p:spPr>
        <p:txBody>
          <a:bodyPr wrap="square" lIns="0" tIns="0" rIns="0" bIns="0" rtlCol="0" anchor="ctr"/>
          <a:lstStyle/>
          <a:p>
            <a:pPr indent="0" marL="0">
              <a:buNone/>
            </a:pPr>
            <a:r>
              <a:rPr lang="en-US" sz="950" dirty="0">
                <a:solidFill>
                  <a:srgbClr val="5A6480"/>
                </a:solidFill>
                <a:latin typeface="Calibri" pitchFamily="34" charset="0"/>
                <a:ea typeface="Calibri" pitchFamily="34" charset="-122"/>
                <a:cs typeface="Calibri" pitchFamily="34" charset="-120"/>
              </a:rPr>
              <a:t>Rule 6(1)</a:t>
            </a:r>
            <a:endParaRPr lang="en-US" sz="950" dirty="0"/>
          </a:p>
        </p:txBody>
      </p:sp>
      <p:sp>
        <p:nvSpPr>
          <p:cNvPr id="46" name="Shape 38"/>
          <p:cNvSpPr/>
          <p:nvPr/>
        </p:nvSpPr>
        <p:spPr>
          <a:xfrm>
            <a:off x="7616952" y="5559552"/>
            <a:ext cx="3767328" cy="475488"/>
          </a:xfrm>
          <a:prstGeom prst="roundRect">
            <a:avLst>
              <a:gd name="adj" fmla="val 15385"/>
            </a:avLst>
          </a:prstGeom>
          <a:solidFill>
            <a:srgbClr val="1E2761"/>
          </a:solidFill>
          <a:ln w="12700">
            <a:solidFill>
              <a:srgbClr val="1E2761"/>
            </a:solidFill>
            <a:prstDash val="solid"/>
          </a:ln>
        </p:spPr>
      </p:sp>
      <p:sp>
        <p:nvSpPr>
          <p:cNvPr id="47" name="Text 39"/>
          <p:cNvSpPr txBox="1"/>
          <p:nvPr/>
        </p:nvSpPr>
        <p:spPr>
          <a:xfrm>
            <a:off x="7616952" y="5559552"/>
            <a:ext cx="2335743"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   6 / 9 DECLARATIONS</a:t>
            </a:r>
            <a:endParaRPr lang="en-US" sz="1200" dirty="0"/>
          </a:p>
        </p:txBody>
      </p:sp>
      <p:sp>
        <p:nvSpPr>
          <p:cNvPr id="48" name="Text 40"/>
          <p:cNvSpPr txBox="1"/>
          <p:nvPr/>
        </p:nvSpPr>
        <p:spPr>
          <a:xfrm>
            <a:off x="9952695" y="5559552"/>
            <a:ext cx="1431585" cy="475488"/>
          </a:xfrm>
          <a:prstGeom prst="rect">
            <a:avLst/>
          </a:prstGeom>
          <a:noFill/>
          <a:ln/>
        </p:spPr>
        <p:txBody>
          <a:bodyPr wrap="square" lIns="0" tIns="0" rIns="0" bIns="0" rtlCol="0" anchor="ctr"/>
          <a:lstStyle/>
          <a:p>
            <a:pPr algn="ctr" indent="0" marL="0">
              <a:buNone/>
            </a:pPr>
            <a:r>
              <a:rPr lang="en-US" sz="1100" b="1" dirty="0">
                <a:solidFill>
                  <a:srgbClr val="F26430"/>
                </a:solidFill>
                <a:latin typeface="Calibri" pitchFamily="34" charset="0"/>
                <a:ea typeface="Calibri" pitchFamily="34" charset="-122"/>
                <a:cs typeface="Calibri" pitchFamily="34" charset="-120"/>
              </a:rPr>
              <a:t>NON-COMPLIANT</a:t>
            </a:r>
            <a:endParaRPr lang="en-US" sz="1100" dirty="0"/>
          </a:p>
        </p:txBody>
      </p:sp>
      <p:sp>
        <p:nvSpPr>
          <p:cNvPr id="49" name="Shape 41"/>
          <p:cNvSpPr/>
          <p:nvPr/>
        </p:nvSpPr>
        <p:spPr>
          <a:xfrm>
            <a:off x="548640" y="6309360"/>
            <a:ext cx="6400800" cy="91"/>
          </a:xfrm>
          <a:prstGeom prst="roundRect">
            <a:avLst>
              <a:gd name="adj" fmla="val 80386813"/>
            </a:avLst>
          </a:prstGeom>
          <a:solidFill>
            <a:srgbClr val="FFFFFF"/>
          </a:solidFill>
          <a:ln w="12700">
            <a:solidFill>
              <a:srgbClr val="FFFFFF"/>
            </a:solidFill>
            <a:prstDash val="solid"/>
          </a:ln>
        </p:spPr>
      </p:sp>
      <p:sp>
        <p:nvSpPr>
          <p:cNvPr id="50" name="Text 42"/>
          <p:cNvSpPr txBox="1"/>
          <p:nvPr/>
        </p:nvSpPr>
        <p:spPr>
          <a:xfrm>
            <a:off x="548640" y="6199632"/>
            <a:ext cx="64008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Rule 6(1)</a:t>
            </a:r>
            <a:pPr indent="0" marL="0">
              <a:buNone/>
            </a:pPr>
            <a:r>
              <a:rPr lang="en-US" sz="1000" dirty="0">
                <a:solidFill>
                  <a:srgbClr val="5A6480"/>
                </a:solidFill>
                <a:latin typeface="Calibri" pitchFamily="34" charset="0"/>
                <a:ea typeface="Calibri" pitchFamily="34" charset="-122"/>
                <a:cs typeface="Calibri" pitchFamily="34" charset="-120"/>
              </a:rPr>
              <a:t> nine declarations   ·   </a:t>
            </a:r>
            <a:pPr indent="0" marL="0">
              <a:buNone/>
            </a:pPr>
            <a:r>
              <a:rPr lang="en-US" sz="1000" b="1" dirty="0">
                <a:solidFill>
                  <a:srgbClr val="1E2761"/>
                </a:solidFill>
                <a:latin typeface="Calibri" pitchFamily="34" charset="0"/>
                <a:ea typeface="Calibri" pitchFamily="34" charset="-122"/>
                <a:cs typeface="Calibri" pitchFamily="34" charset="-120"/>
              </a:rPr>
              <a:t>Rule 7</a:t>
            </a:r>
            <a:pPr indent="0" marL="0">
              <a:buNone/>
            </a:pPr>
            <a:r>
              <a:rPr lang="en-US" sz="1000" dirty="0">
                <a:solidFill>
                  <a:srgbClr val="5A6480"/>
                </a:solidFill>
                <a:latin typeface="Calibri" pitchFamily="34" charset="0"/>
                <a:ea typeface="Calibri" pitchFamily="34" charset="-122"/>
                <a:cs typeface="Calibri" pitchFamily="34" charset="-120"/>
              </a:rPr>
              <a:t> letter heights   ·   </a:t>
            </a:r>
            <a:pPr indent="0" marL="0">
              <a:buNone/>
            </a:pPr>
            <a:r>
              <a:rPr lang="en-US" sz="1000" b="1" dirty="0">
                <a:solidFill>
                  <a:srgbClr val="1E2761"/>
                </a:solidFill>
                <a:latin typeface="Calibri" pitchFamily="34" charset="0"/>
                <a:ea typeface="Calibri" pitchFamily="34" charset="-122"/>
                <a:cs typeface="Calibri" pitchFamily="34" charset="-120"/>
              </a:rPr>
              <a:t>Section 36</a:t>
            </a:r>
            <a:pPr indent="0" marL="0">
              <a:buNone/>
            </a:pPr>
            <a:r>
              <a:rPr lang="en-US" sz="1000" dirty="0">
                <a:solidFill>
                  <a:srgbClr val="5A6480"/>
                </a:solidFill>
                <a:latin typeface="Calibri" pitchFamily="34" charset="0"/>
                <a:ea typeface="Calibri" pitchFamily="34" charset="-122"/>
                <a:cs typeface="Calibri" pitchFamily="34" charset="-120"/>
              </a:rPr>
              <a:t> penalties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566928"/>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Technical Approach</a:t>
            </a:r>
            <a:endParaRPr lang="en-US" sz="3400" dirty="0"/>
          </a:p>
        </p:txBody>
      </p:sp>
      <p:sp>
        <p:nvSpPr>
          <p:cNvPr id="3" name="Text 1"/>
          <p:cNvSpPr txBox="1"/>
          <p:nvPr/>
        </p:nvSpPr>
        <p:spPr>
          <a:xfrm>
            <a:off x="548640" y="914400"/>
            <a:ext cx="10058400" cy="256032"/>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Technologies to be used  ·  Methodology and process for implementation</a:t>
            </a:r>
            <a:endParaRPr lang="en-US" sz="1150" dirty="0"/>
          </a:p>
        </p:txBody>
      </p:sp>
      <p:sp>
        <p:nvSpPr>
          <p:cNvPr id="4" name="Shape 2"/>
          <p:cNvSpPr/>
          <p:nvPr/>
        </p:nvSpPr>
        <p:spPr>
          <a:xfrm>
            <a:off x="548640" y="1298448"/>
            <a:ext cx="2057400" cy="1280160"/>
          </a:xfrm>
          <a:prstGeom prst="roundRect">
            <a:avLst>
              <a:gd name="adj" fmla="val 5714"/>
            </a:avLst>
          </a:prstGeom>
          <a:solidFill>
            <a:srgbClr val="EEF2FB"/>
          </a:solidFill>
          <a:ln w="12700">
            <a:solidFill>
              <a:srgbClr val="DAE3F5"/>
            </a:solidFill>
            <a:prstDash val="solid"/>
          </a:ln>
        </p:spPr>
      </p:sp>
      <p:sp>
        <p:nvSpPr>
          <p:cNvPr id="5" name="Shape 3"/>
          <p:cNvSpPr/>
          <p:nvPr/>
        </p:nvSpPr>
        <p:spPr>
          <a:xfrm>
            <a:off x="694944" y="1444752"/>
            <a:ext cx="310896" cy="310896"/>
          </a:xfrm>
          <a:prstGeom prst="ellipse">
            <a:avLst/>
          </a:prstGeom>
          <a:solidFill>
            <a:srgbClr val="1E2761"/>
          </a:solidFill>
          <a:ln w="12700">
            <a:solidFill>
              <a:srgbClr val="1E2761"/>
            </a:solidFill>
            <a:prstDash val="solid"/>
          </a:ln>
        </p:spPr>
      </p:sp>
      <p:pic>
        <p:nvPicPr>
          <p:cNvPr id="6" name="Image 0" descr="preencoded.png">    </p:cNvPr>
          <p:cNvPicPr>
            <a:picLocks noChangeAspect="1"/>
          </p:cNvPicPr>
          <p:nvPr/>
        </p:nvPicPr>
        <p:blipFill>
          <a:blip r:embed="rId1"/>
          <a:stretch>
            <a:fillRect/>
          </a:stretch>
        </p:blipFill>
        <p:spPr>
          <a:xfrm>
            <a:off x="772668" y="1522476"/>
            <a:ext cx="155448" cy="155448"/>
          </a:xfrm>
          <a:prstGeom prst="rect">
            <a:avLst/>
          </a:prstGeom>
        </p:spPr>
      </p:pic>
      <p:sp>
        <p:nvSpPr>
          <p:cNvPr id="7" name="Text 4"/>
          <p:cNvSpPr txBox="1"/>
          <p:nvPr/>
        </p:nvSpPr>
        <p:spPr>
          <a:xfrm>
            <a:off x="1097280" y="1426464"/>
            <a:ext cx="13716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CAPTURE</a:t>
            </a:r>
            <a:endParaRPr lang="en-US" sz="1200" dirty="0"/>
          </a:p>
        </p:txBody>
      </p:sp>
      <p:sp>
        <p:nvSpPr>
          <p:cNvPr id="8" name="Text 5"/>
          <p:cNvSpPr txBox="1"/>
          <p:nvPr/>
        </p:nvSpPr>
        <p:spPr>
          <a:xfrm>
            <a:off x="694944" y="1828800"/>
            <a:ext cx="1764792" cy="621792"/>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Photo of pack +</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ArUco reference card</a:t>
            </a:r>
            <a:endParaRPr lang="en-US" sz="1000" dirty="0"/>
          </a:p>
        </p:txBody>
      </p:sp>
      <p:sp>
        <p:nvSpPr>
          <p:cNvPr id="9" name="Text 6"/>
          <p:cNvSpPr txBox="1"/>
          <p:nvPr/>
        </p:nvSpPr>
        <p:spPr>
          <a:xfrm>
            <a:off x="2578608" y="1298448"/>
            <a:ext cx="228600" cy="1280160"/>
          </a:xfrm>
          <a:prstGeom prst="rect">
            <a:avLst/>
          </a:prstGeom>
          <a:noFill/>
          <a:ln/>
        </p:spPr>
        <p:txBody>
          <a:bodyPr wrap="square" lIns="0" tIns="0" rIns="0" bIns="0" rtlCol="0" anchor="ctr"/>
          <a:lstStyle/>
          <a:p>
            <a:pPr algn="ctr" indent="0" marL="0">
              <a:buNone/>
            </a:pPr>
            <a:r>
              <a:rPr lang="en-US" sz="1700" b="1" dirty="0">
                <a:solidFill>
                  <a:srgbClr val="F26430"/>
                </a:solidFill>
                <a:latin typeface="Calibri" pitchFamily="34" charset="0"/>
                <a:ea typeface="Calibri" pitchFamily="34" charset="-122"/>
                <a:cs typeface="Calibri" pitchFamily="34" charset="-120"/>
              </a:rPr>
              <a:t>&gt;</a:t>
            </a:r>
            <a:endParaRPr lang="en-US" sz="1700" dirty="0"/>
          </a:p>
        </p:txBody>
      </p:sp>
      <p:sp>
        <p:nvSpPr>
          <p:cNvPr id="10" name="Shape 7"/>
          <p:cNvSpPr/>
          <p:nvPr/>
        </p:nvSpPr>
        <p:spPr>
          <a:xfrm>
            <a:off x="2779776" y="1298448"/>
            <a:ext cx="2057400" cy="1280160"/>
          </a:xfrm>
          <a:prstGeom prst="roundRect">
            <a:avLst>
              <a:gd name="adj" fmla="val 5714"/>
            </a:avLst>
          </a:prstGeom>
          <a:solidFill>
            <a:srgbClr val="1E2761"/>
          </a:solidFill>
          <a:ln w="12700">
            <a:solidFill>
              <a:srgbClr val="1E2761"/>
            </a:solidFill>
            <a:prstDash val="solid"/>
          </a:ln>
        </p:spPr>
      </p:sp>
      <p:sp>
        <p:nvSpPr>
          <p:cNvPr id="11" name="Shape 8"/>
          <p:cNvSpPr/>
          <p:nvPr/>
        </p:nvSpPr>
        <p:spPr>
          <a:xfrm>
            <a:off x="2926080" y="1444752"/>
            <a:ext cx="310896" cy="310896"/>
          </a:xfrm>
          <a:prstGeom prst="ellipse">
            <a:avLst/>
          </a:prstGeom>
          <a:solidFill>
            <a:srgbClr val="F26430"/>
          </a:solidFill>
          <a:ln w="12700">
            <a:solidFill>
              <a:srgbClr val="F26430"/>
            </a:solidFill>
            <a:prstDash val="solid"/>
          </a:ln>
        </p:spPr>
      </p:sp>
      <p:pic>
        <p:nvPicPr>
          <p:cNvPr id="12" name="Image 1" descr="preencoded.png">    </p:cNvPr>
          <p:cNvPicPr>
            <a:picLocks noChangeAspect="1"/>
          </p:cNvPicPr>
          <p:nvPr/>
        </p:nvPicPr>
        <p:blipFill>
          <a:blip r:embed="rId2"/>
          <a:stretch>
            <a:fillRect/>
          </a:stretch>
        </p:blipFill>
        <p:spPr>
          <a:xfrm>
            <a:off x="3003804" y="1522476"/>
            <a:ext cx="155448" cy="155448"/>
          </a:xfrm>
          <a:prstGeom prst="rect">
            <a:avLst/>
          </a:prstGeom>
        </p:spPr>
      </p:pic>
      <p:sp>
        <p:nvSpPr>
          <p:cNvPr id="13" name="Text 9"/>
          <p:cNvSpPr txBox="1"/>
          <p:nvPr/>
        </p:nvSpPr>
        <p:spPr>
          <a:xfrm>
            <a:off x="3328416" y="1426464"/>
            <a:ext cx="13716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p>
        </p:txBody>
      </p:sp>
      <p:sp>
        <p:nvSpPr>
          <p:cNvPr id="14" name="Text 10"/>
          <p:cNvSpPr txBox="1"/>
          <p:nvPr/>
        </p:nvSpPr>
        <p:spPr>
          <a:xfrm>
            <a:off x="2926080" y="1828800"/>
            <a:ext cx="1764792" cy="621792"/>
          </a:xfrm>
          <a:prstGeom prst="rect">
            <a:avLst/>
          </a:prstGeom>
          <a:noFill/>
          <a:ln/>
        </p:spPr>
        <p:txBody>
          <a:bodyPr wrap="square" lIns="0" tIns="0" rIns="0" bIns="0" rtlCol="0" anchor="t"/>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Detect marker,</a:t>
            </a:r>
            <a:endParaRPr lang="en-US" sz="1000" dirty="0"/>
          </a:p>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derive mm-per-pixel</a:t>
            </a:r>
            <a:endParaRPr lang="en-US" sz="1000" dirty="0"/>
          </a:p>
        </p:txBody>
      </p:sp>
      <p:sp>
        <p:nvSpPr>
          <p:cNvPr id="15" name="Text 11"/>
          <p:cNvSpPr txBox="1"/>
          <p:nvPr/>
        </p:nvSpPr>
        <p:spPr>
          <a:xfrm>
            <a:off x="4809744" y="1298448"/>
            <a:ext cx="228600" cy="1280160"/>
          </a:xfrm>
          <a:prstGeom prst="rect">
            <a:avLst/>
          </a:prstGeom>
          <a:noFill/>
          <a:ln/>
        </p:spPr>
        <p:txBody>
          <a:bodyPr wrap="square" lIns="0" tIns="0" rIns="0" bIns="0" rtlCol="0" anchor="ctr"/>
          <a:lstStyle/>
          <a:p>
            <a:pPr algn="ctr" indent="0" marL="0">
              <a:buNone/>
            </a:pPr>
            <a:r>
              <a:rPr lang="en-US" sz="1700" b="1" dirty="0">
                <a:solidFill>
                  <a:srgbClr val="F26430"/>
                </a:solidFill>
                <a:latin typeface="Calibri" pitchFamily="34" charset="0"/>
                <a:ea typeface="Calibri" pitchFamily="34" charset="-122"/>
                <a:cs typeface="Calibri" pitchFamily="34" charset="-120"/>
              </a:rPr>
              <a:t>&gt;</a:t>
            </a:r>
            <a:endParaRPr lang="en-US" sz="1700" dirty="0"/>
          </a:p>
        </p:txBody>
      </p:sp>
      <p:sp>
        <p:nvSpPr>
          <p:cNvPr id="16" name="Shape 12"/>
          <p:cNvSpPr/>
          <p:nvPr/>
        </p:nvSpPr>
        <p:spPr>
          <a:xfrm>
            <a:off x="5010912" y="1298448"/>
            <a:ext cx="2057400" cy="1280160"/>
          </a:xfrm>
          <a:prstGeom prst="roundRect">
            <a:avLst>
              <a:gd name="adj" fmla="val 5714"/>
            </a:avLst>
          </a:prstGeom>
          <a:solidFill>
            <a:srgbClr val="EEF2FB"/>
          </a:solidFill>
          <a:ln w="12700">
            <a:solidFill>
              <a:srgbClr val="DAE3F5"/>
            </a:solidFill>
            <a:prstDash val="solid"/>
          </a:ln>
        </p:spPr>
      </p:sp>
      <p:sp>
        <p:nvSpPr>
          <p:cNvPr id="17" name="Shape 13"/>
          <p:cNvSpPr/>
          <p:nvPr/>
        </p:nvSpPr>
        <p:spPr>
          <a:xfrm>
            <a:off x="5157216" y="1444752"/>
            <a:ext cx="310896" cy="310896"/>
          </a:xfrm>
          <a:prstGeom prst="ellipse">
            <a:avLst/>
          </a:prstGeom>
          <a:solidFill>
            <a:srgbClr val="1E2761"/>
          </a:solidFill>
          <a:ln w="12700">
            <a:solidFill>
              <a:srgbClr val="1E2761"/>
            </a:solidFill>
            <a:prstDash val="solid"/>
          </a:ln>
        </p:spPr>
      </p:sp>
      <p:pic>
        <p:nvPicPr>
          <p:cNvPr id="18" name="Image 2" descr="preencoded.png">    </p:cNvPr>
          <p:cNvPicPr>
            <a:picLocks noChangeAspect="1"/>
          </p:cNvPicPr>
          <p:nvPr/>
        </p:nvPicPr>
        <p:blipFill>
          <a:blip r:embed="rId3"/>
          <a:stretch>
            <a:fillRect/>
          </a:stretch>
        </p:blipFill>
        <p:spPr>
          <a:xfrm>
            <a:off x="5234940" y="1522476"/>
            <a:ext cx="155448" cy="155448"/>
          </a:xfrm>
          <a:prstGeom prst="rect">
            <a:avLst/>
          </a:prstGeom>
        </p:spPr>
      </p:pic>
      <p:sp>
        <p:nvSpPr>
          <p:cNvPr id="19" name="Text 14"/>
          <p:cNvSpPr txBox="1"/>
          <p:nvPr/>
        </p:nvSpPr>
        <p:spPr>
          <a:xfrm>
            <a:off x="5559552" y="1426464"/>
            <a:ext cx="13716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EXTRACT</a:t>
            </a:r>
            <a:endParaRPr lang="en-US" sz="1200" dirty="0"/>
          </a:p>
        </p:txBody>
      </p:sp>
      <p:sp>
        <p:nvSpPr>
          <p:cNvPr id="20" name="Text 15"/>
          <p:cNvSpPr txBox="1"/>
          <p:nvPr/>
        </p:nvSpPr>
        <p:spPr>
          <a:xfrm>
            <a:off x="5157216" y="1828800"/>
            <a:ext cx="1764792" cy="621792"/>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OCR the 9 declarations</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(English + Hindi)</a:t>
            </a:r>
            <a:endParaRPr lang="en-US" sz="1000" dirty="0"/>
          </a:p>
        </p:txBody>
      </p:sp>
      <p:sp>
        <p:nvSpPr>
          <p:cNvPr id="21" name="Text 16"/>
          <p:cNvSpPr txBox="1"/>
          <p:nvPr/>
        </p:nvSpPr>
        <p:spPr>
          <a:xfrm>
            <a:off x="7040880" y="1298448"/>
            <a:ext cx="228600" cy="1280160"/>
          </a:xfrm>
          <a:prstGeom prst="rect">
            <a:avLst/>
          </a:prstGeom>
          <a:noFill/>
          <a:ln/>
        </p:spPr>
        <p:txBody>
          <a:bodyPr wrap="square" lIns="0" tIns="0" rIns="0" bIns="0" rtlCol="0" anchor="ctr"/>
          <a:lstStyle/>
          <a:p>
            <a:pPr algn="ctr" indent="0" marL="0">
              <a:buNone/>
            </a:pPr>
            <a:r>
              <a:rPr lang="en-US" sz="1700" b="1" dirty="0">
                <a:solidFill>
                  <a:srgbClr val="F26430"/>
                </a:solidFill>
                <a:latin typeface="Calibri" pitchFamily="34" charset="0"/>
                <a:ea typeface="Calibri" pitchFamily="34" charset="-122"/>
                <a:cs typeface="Calibri" pitchFamily="34" charset="-120"/>
              </a:rPr>
              <a:t>&gt;</a:t>
            </a:r>
            <a:endParaRPr lang="en-US" sz="1700" dirty="0"/>
          </a:p>
        </p:txBody>
      </p:sp>
      <p:sp>
        <p:nvSpPr>
          <p:cNvPr id="22" name="Shape 17"/>
          <p:cNvSpPr/>
          <p:nvPr/>
        </p:nvSpPr>
        <p:spPr>
          <a:xfrm>
            <a:off x="7242048" y="1298448"/>
            <a:ext cx="2057400" cy="1280160"/>
          </a:xfrm>
          <a:prstGeom prst="roundRect">
            <a:avLst>
              <a:gd name="adj" fmla="val 5714"/>
            </a:avLst>
          </a:prstGeom>
          <a:solidFill>
            <a:srgbClr val="EEF2FB"/>
          </a:solidFill>
          <a:ln w="12700">
            <a:solidFill>
              <a:srgbClr val="DAE3F5"/>
            </a:solidFill>
            <a:prstDash val="solid"/>
          </a:ln>
        </p:spPr>
      </p:sp>
      <p:sp>
        <p:nvSpPr>
          <p:cNvPr id="23" name="Shape 18"/>
          <p:cNvSpPr/>
          <p:nvPr/>
        </p:nvSpPr>
        <p:spPr>
          <a:xfrm>
            <a:off x="7388352" y="1444752"/>
            <a:ext cx="310896" cy="310896"/>
          </a:xfrm>
          <a:prstGeom prst="ellipse">
            <a:avLst/>
          </a:prstGeom>
          <a:solidFill>
            <a:srgbClr val="1E2761"/>
          </a:solidFill>
          <a:ln w="12700">
            <a:solidFill>
              <a:srgbClr val="1E2761"/>
            </a:solidFill>
            <a:prstDash val="solid"/>
          </a:ln>
        </p:spPr>
      </p:sp>
      <p:pic>
        <p:nvPicPr>
          <p:cNvPr id="24" name="Image 3" descr="preencoded.png">    </p:cNvPr>
          <p:cNvPicPr>
            <a:picLocks noChangeAspect="1"/>
          </p:cNvPicPr>
          <p:nvPr/>
        </p:nvPicPr>
        <p:blipFill>
          <a:blip r:embed="rId4"/>
          <a:stretch>
            <a:fillRect/>
          </a:stretch>
        </p:blipFill>
        <p:spPr>
          <a:xfrm>
            <a:off x="7466076" y="1522476"/>
            <a:ext cx="155448" cy="155448"/>
          </a:xfrm>
          <a:prstGeom prst="rect">
            <a:avLst/>
          </a:prstGeom>
        </p:spPr>
      </p:pic>
      <p:sp>
        <p:nvSpPr>
          <p:cNvPr id="25" name="Text 19"/>
          <p:cNvSpPr txBox="1"/>
          <p:nvPr/>
        </p:nvSpPr>
        <p:spPr>
          <a:xfrm>
            <a:off x="7790688" y="1426464"/>
            <a:ext cx="13716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ADJUDICATE</a:t>
            </a:r>
            <a:endParaRPr lang="en-US" sz="1200" dirty="0"/>
          </a:p>
        </p:txBody>
      </p:sp>
      <p:sp>
        <p:nvSpPr>
          <p:cNvPr id="26" name="Text 20"/>
          <p:cNvSpPr txBox="1"/>
          <p:nvPr/>
        </p:nvSpPr>
        <p:spPr>
          <a:xfrm>
            <a:off x="7388352" y="1828800"/>
            <a:ext cx="1764792" cy="621792"/>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Rule engine: 12 rules</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with exemptions</a:t>
            </a:r>
            <a:endParaRPr lang="en-US" sz="1000" dirty="0"/>
          </a:p>
        </p:txBody>
      </p:sp>
      <p:sp>
        <p:nvSpPr>
          <p:cNvPr id="27" name="Text 21"/>
          <p:cNvSpPr txBox="1"/>
          <p:nvPr/>
        </p:nvSpPr>
        <p:spPr>
          <a:xfrm>
            <a:off x="9272016" y="1298448"/>
            <a:ext cx="228600" cy="1280160"/>
          </a:xfrm>
          <a:prstGeom prst="rect">
            <a:avLst/>
          </a:prstGeom>
          <a:noFill/>
          <a:ln/>
        </p:spPr>
        <p:txBody>
          <a:bodyPr wrap="square" lIns="0" tIns="0" rIns="0" bIns="0" rtlCol="0" anchor="ctr"/>
          <a:lstStyle/>
          <a:p>
            <a:pPr algn="ctr" indent="0" marL="0">
              <a:buNone/>
            </a:pPr>
            <a:r>
              <a:rPr lang="en-US" sz="1700" b="1" dirty="0">
                <a:solidFill>
                  <a:srgbClr val="F26430"/>
                </a:solidFill>
                <a:latin typeface="Calibri" pitchFamily="34" charset="0"/>
                <a:ea typeface="Calibri" pitchFamily="34" charset="-122"/>
                <a:cs typeface="Calibri" pitchFamily="34" charset="-120"/>
              </a:rPr>
              <a:t>&gt;</a:t>
            </a:r>
            <a:endParaRPr lang="en-US" sz="1700" dirty="0"/>
          </a:p>
        </p:txBody>
      </p:sp>
      <p:sp>
        <p:nvSpPr>
          <p:cNvPr id="28" name="Shape 22"/>
          <p:cNvSpPr/>
          <p:nvPr/>
        </p:nvSpPr>
        <p:spPr>
          <a:xfrm>
            <a:off x="9473184" y="1298448"/>
            <a:ext cx="2057400" cy="1280160"/>
          </a:xfrm>
          <a:prstGeom prst="roundRect">
            <a:avLst>
              <a:gd name="adj" fmla="val 5714"/>
            </a:avLst>
          </a:prstGeom>
          <a:solidFill>
            <a:srgbClr val="EEF2FB"/>
          </a:solidFill>
          <a:ln w="12700">
            <a:solidFill>
              <a:srgbClr val="DAE3F5"/>
            </a:solidFill>
            <a:prstDash val="solid"/>
          </a:ln>
        </p:spPr>
      </p:sp>
      <p:sp>
        <p:nvSpPr>
          <p:cNvPr id="29" name="Shape 23"/>
          <p:cNvSpPr/>
          <p:nvPr/>
        </p:nvSpPr>
        <p:spPr>
          <a:xfrm>
            <a:off x="9619488" y="1444752"/>
            <a:ext cx="310896" cy="310896"/>
          </a:xfrm>
          <a:prstGeom prst="ellipse">
            <a:avLst/>
          </a:prstGeom>
          <a:solidFill>
            <a:srgbClr val="1E2761"/>
          </a:solidFill>
          <a:ln w="12700">
            <a:solidFill>
              <a:srgbClr val="1E2761"/>
            </a:solidFill>
            <a:prstDash val="solid"/>
          </a:ln>
        </p:spPr>
      </p:sp>
      <p:pic>
        <p:nvPicPr>
          <p:cNvPr id="30" name="Image 4" descr="preencoded.png">    </p:cNvPr>
          <p:cNvPicPr>
            <a:picLocks noChangeAspect="1"/>
          </p:cNvPicPr>
          <p:nvPr/>
        </p:nvPicPr>
        <p:blipFill>
          <a:blip r:embed="rId5"/>
          <a:stretch>
            <a:fillRect/>
          </a:stretch>
        </p:blipFill>
        <p:spPr>
          <a:xfrm>
            <a:off x="9697212" y="1522476"/>
            <a:ext cx="155448" cy="155448"/>
          </a:xfrm>
          <a:prstGeom prst="rect">
            <a:avLst/>
          </a:prstGeom>
        </p:spPr>
      </p:pic>
      <p:sp>
        <p:nvSpPr>
          <p:cNvPr id="31" name="Text 24"/>
          <p:cNvSpPr txBox="1"/>
          <p:nvPr/>
        </p:nvSpPr>
        <p:spPr>
          <a:xfrm>
            <a:off x="10021824" y="1426464"/>
            <a:ext cx="137160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REPORT</a:t>
            </a:r>
            <a:endParaRPr lang="en-US" sz="1200" dirty="0"/>
          </a:p>
        </p:txBody>
      </p:sp>
      <p:sp>
        <p:nvSpPr>
          <p:cNvPr id="32" name="Text 25"/>
          <p:cNvSpPr txBox="1"/>
          <p:nvPr/>
        </p:nvSpPr>
        <p:spPr>
          <a:xfrm>
            <a:off x="9619488" y="1828800"/>
            <a:ext cx="1764792" cy="621792"/>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Report card + PDF</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with rule citations</a:t>
            </a:r>
            <a:endParaRPr lang="en-US" sz="1000" dirty="0"/>
          </a:p>
        </p:txBody>
      </p:sp>
      <p:sp>
        <p:nvSpPr>
          <p:cNvPr id="33" name="Shape 26"/>
          <p:cNvSpPr/>
          <p:nvPr/>
        </p:nvSpPr>
        <p:spPr>
          <a:xfrm>
            <a:off x="548640" y="2788920"/>
            <a:ext cx="5486400" cy="3401568"/>
          </a:xfrm>
          <a:prstGeom prst="roundRect">
            <a:avLst>
              <a:gd name="adj" fmla="val 2151"/>
            </a:avLst>
          </a:prstGeom>
          <a:solidFill>
            <a:srgbClr val="EEF2FB"/>
          </a:solidFill>
          <a:ln w="12700">
            <a:solidFill>
              <a:srgbClr val="DAE3F5"/>
            </a:solidFill>
            <a:prstDash val="solid"/>
          </a:ln>
        </p:spPr>
      </p:sp>
      <p:sp>
        <p:nvSpPr>
          <p:cNvPr id="34" name="Text 27"/>
          <p:cNvSpPr txBox="1"/>
          <p:nvPr/>
        </p:nvSpPr>
        <p:spPr>
          <a:xfrm>
            <a:off x="777240" y="2971800"/>
            <a:ext cx="5029200" cy="237744"/>
          </a:xfrm>
          <a:prstGeom prst="rect">
            <a:avLst/>
          </a:prstGeom>
          <a:noFill/>
          <a:ln/>
        </p:spPr>
        <p:txBody>
          <a:bodyPr wrap="square" lIns="0" tIns="0" rIns="0" bIns="0" rtlCol="0" anchor="ctr"/>
          <a:lstStyle/>
          <a:p>
            <a:pPr indent="0" marL="0">
              <a:buNone/>
            </a:pPr>
            <a:r>
              <a:rPr lang="en-US" sz="1000" b="1" spc="110" kern="0" dirty="0">
                <a:solidFill>
                  <a:srgbClr val="5A6480"/>
                </a:solidFill>
                <a:latin typeface="Calibri" pitchFamily="34" charset="0"/>
                <a:ea typeface="Calibri" pitchFamily="34" charset="-122"/>
                <a:cs typeface="Calibri" pitchFamily="34" charset="-120"/>
              </a:rPr>
              <a:t>HOW WE GET MILLIMETRES FROM A PHOTOGRAPH</a:t>
            </a:r>
            <a:endParaRPr lang="en-US" sz="1000" dirty="0"/>
          </a:p>
        </p:txBody>
      </p:sp>
      <p:sp>
        <p:nvSpPr>
          <p:cNvPr id="35" name="Shape 28"/>
          <p:cNvSpPr/>
          <p:nvPr/>
        </p:nvSpPr>
        <p:spPr>
          <a:xfrm>
            <a:off x="777240" y="3273552"/>
            <a:ext cx="5029200" cy="457200"/>
          </a:xfrm>
          <a:prstGeom prst="roundRect">
            <a:avLst>
              <a:gd name="adj" fmla="val 16000"/>
            </a:avLst>
          </a:prstGeom>
          <a:solidFill>
            <a:srgbClr val="FFFFFF"/>
          </a:solidFill>
          <a:ln w="12700">
            <a:solidFill>
              <a:srgbClr val="D5DCEC"/>
            </a:solidFill>
            <a:prstDash val="solid"/>
          </a:ln>
        </p:spPr>
      </p:sp>
      <p:sp>
        <p:nvSpPr>
          <p:cNvPr id="36" name="Text 29"/>
          <p:cNvSpPr txBox="1"/>
          <p:nvPr/>
        </p:nvSpPr>
        <p:spPr>
          <a:xfrm>
            <a:off x="914400" y="3273552"/>
            <a:ext cx="2880360" cy="45720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ArUco card is exactly 50 mm</a:t>
            </a:r>
            <a:endParaRPr lang="en-US" sz="1100" dirty="0"/>
          </a:p>
        </p:txBody>
      </p:sp>
      <p:sp>
        <p:nvSpPr>
          <p:cNvPr id="37" name="Text 30"/>
          <p:cNvSpPr txBox="1"/>
          <p:nvPr/>
        </p:nvSpPr>
        <p:spPr>
          <a:xfrm>
            <a:off x="3794760" y="3273552"/>
            <a:ext cx="1874520" cy="457200"/>
          </a:xfrm>
          <a:prstGeom prst="rect">
            <a:avLst/>
          </a:prstGeom>
          <a:noFill/>
          <a:ln/>
        </p:spPr>
        <p:txBody>
          <a:bodyPr wrap="square" lIns="0" tIns="0" rIns="0" bIns="0" rtlCol="0" anchor="ctr"/>
          <a:lstStyle/>
          <a:p>
            <a:pPr algn="r" indent="0" marL="0">
              <a:buNone/>
            </a:pPr>
            <a:r>
              <a:rPr lang="en-US" sz="950" dirty="0">
                <a:solidFill>
                  <a:srgbClr val="5A6480"/>
                </a:solidFill>
                <a:latin typeface="Calibri" pitchFamily="34" charset="0"/>
                <a:ea typeface="Calibri" pitchFamily="34" charset="-122"/>
                <a:cs typeface="Calibri" pitchFamily="34" charset="-120"/>
              </a:rPr>
              <a:t>measures 200 pixels in the photo</a:t>
            </a:r>
            <a:endParaRPr lang="en-US" sz="950" dirty="0"/>
          </a:p>
        </p:txBody>
      </p:sp>
      <p:sp>
        <p:nvSpPr>
          <p:cNvPr id="38" name="Shape 31"/>
          <p:cNvSpPr/>
          <p:nvPr/>
        </p:nvSpPr>
        <p:spPr>
          <a:xfrm>
            <a:off x="777240" y="3840480"/>
            <a:ext cx="5029200" cy="457200"/>
          </a:xfrm>
          <a:prstGeom prst="roundRect">
            <a:avLst>
              <a:gd name="adj" fmla="val 16000"/>
            </a:avLst>
          </a:prstGeom>
          <a:solidFill>
            <a:srgbClr val="FFFFFF"/>
          </a:solidFill>
          <a:ln w="12700">
            <a:solidFill>
              <a:srgbClr val="D5DCEC"/>
            </a:solidFill>
            <a:prstDash val="solid"/>
          </a:ln>
        </p:spPr>
      </p:sp>
      <p:sp>
        <p:nvSpPr>
          <p:cNvPr id="39" name="Text 32"/>
          <p:cNvSpPr txBox="1"/>
          <p:nvPr/>
        </p:nvSpPr>
        <p:spPr>
          <a:xfrm>
            <a:off x="914400" y="3840480"/>
            <a:ext cx="2880360" cy="45720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So 1 pixel = 0.25 mm</a:t>
            </a:r>
            <a:endParaRPr lang="en-US" sz="1100" dirty="0"/>
          </a:p>
        </p:txBody>
      </p:sp>
      <p:sp>
        <p:nvSpPr>
          <p:cNvPr id="40" name="Text 33"/>
          <p:cNvSpPr txBox="1"/>
          <p:nvPr/>
        </p:nvSpPr>
        <p:spPr>
          <a:xfrm>
            <a:off x="3794760" y="3840480"/>
            <a:ext cx="1874520" cy="457200"/>
          </a:xfrm>
          <a:prstGeom prst="rect">
            <a:avLst/>
          </a:prstGeom>
          <a:noFill/>
          <a:ln/>
        </p:spPr>
        <p:txBody>
          <a:bodyPr wrap="square" lIns="0" tIns="0" rIns="0" bIns="0" rtlCol="0" anchor="ctr"/>
          <a:lstStyle/>
          <a:p>
            <a:pPr algn="r" indent="0" marL="0">
              <a:buNone/>
            </a:pPr>
            <a:r>
              <a:rPr lang="en-US" sz="950" dirty="0">
                <a:solidFill>
                  <a:srgbClr val="5A6480"/>
                </a:solidFill>
                <a:latin typeface="Calibri" pitchFamily="34" charset="0"/>
                <a:ea typeface="Calibri" pitchFamily="34" charset="-122"/>
                <a:cs typeface="Calibri" pitchFamily="34" charset="-120"/>
              </a:rPr>
              <a:t>this is our scale</a:t>
            </a:r>
            <a:endParaRPr lang="en-US" sz="950" dirty="0"/>
          </a:p>
        </p:txBody>
      </p:sp>
      <p:sp>
        <p:nvSpPr>
          <p:cNvPr id="41" name="Shape 34"/>
          <p:cNvSpPr/>
          <p:nvPr/>
        </p:nvSpPr>
        <p:spPr>
          <a:xfrm>
            <a:off x="777240" y="4407408"/>
            <a:ext cx="5029200" cy="457200"/>
          </a:xfrm>
          <a:prstGeom prst="roundRect">
            <a:avLst>
              <a:gd name="adj" fmla="val 16000"/>
            </a:avLst>
          </a:prstGeom>
          <a:solidFill>
            <a:srgbClr val="FFFFFF"/>
          </a:solidFill>
          <a:ln w="12700">
            <a:solidFill>
              <a:srgbClr val="D5DCEC"/>
            </a:solidFill>
            <a:prstDash val="solid"/>
          </a:ln>
        </p:spPr>
      </p:sp>
      <p:sp>
        <p:nvSpPr>
          <p:cNvPr id="42" name="Text 35"/>
          <p:cNvSpPr txBox="1"/>
          <p:nvPr/>
        </p:nvSpPr>
        <p:spPr>
          <a:xfrm>
            <a:off x="914400" y="4407408"/>
            <a:ext cx="2880360" cy="45720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“MRP Rs.40” text box = 9 px tall</a:t>
            </a:r>
            <a:endParaRPr lang="en-US" sz="1100" dirty="0"/>
          </a:p>
        </p:txBody>
      </p:sp>
      <p:sp>
        <p:nvSpPr>
          <p:cNvPr id="43" name="Text 36"/>
          <p:cNvSpPr txBox="1"/>
          <p:nvPr/>
        </p:nvSpPr>
        <p:spPr>
          <a:xfrm>
            <a:off x="3794760" y="4407408"/>
            <a:ext cx="1874520" cy="457200"/>
          </a:xfrm>
          <a:prstGeom prst="rect">
            <a:avLst/>
          </a:prstGeom>
          <a:noFill/>
          <a:ln/>
        </p:spPr>
        <p:txBody>
          <a:bodyPr wrap="square" lIns="0" tIns="0" rIns="0" bIns="0" rtlCol="0" anchor="ctr"/>
          <a:lstStyle/>
          <a:p>
            <a:pPr algn="r" indent="0" marL="0">
              <a:buNone/>
            </a:pPr>
            <a:r>
              <a:rPr lang="en-US" sz="950" dirty="0">
                <a:solidFill>
                  <a:srgbClr val="5A6480"/>
                </a:solidFill>
                <a:latin typeface="Calibri" pitchFamily="34" charset="0"/>
                <a:ea typeface="Calibri" pitchFamily="34" charset="-122"/>
                <a:cs typeface="Calibri" pitchFamily="34" charset="-120"/>
              </a:rPr>
              <a:t>from the OCR bounding box</a:t>
            </a:r>
            <a:endParaRPr lang="en-US" sz="950" dirty="0"/>
          </a:p>
        </p:txBody>
      </p:sp>
      <p:sp>
        <p:nvSpPr>
          <p:cNvPr id="44" name="Shape 37"/>
          <p:cNvSpPr/>
          <p:nvPr/>
        </p:nvSpPr>
        <p:spPr>
          <a:xfrm>
            <a:off x="777240" y="4974336"/>
            <a:ext cx="5029200" cy="457200"/>
          </a:xfrm>
          <a:prstGeom prst="roundRect">
            <a:avLst>
              <a:gd name="adj" fmla="val 16000"/>
            </a:avLst>
          </a:prstGeom>
          <a:solidFill>
            <a:srgbClr val="FFFFFF"/>
          </a:solidFill>
          <a:ln w="12700">
            <a:solidFill>
              <a:srgbClr val="D5DCEC"/>
            </a:solidFill>
            <a:prstDash val="solid"/>
          </a:ln>
        </p:spPr>
      </p:sp>
      <p:sp>
        <p:nvSpPr>
          <p:cNvPr id="45" name="Text 38"/>
          <p:cNvSpPr txBox="1"/>
          <p:nvPr/>
        </p:nvSpPr>
        <p:spPr>
          <a:xfrm>
            <a:off x="914400" y="4974336"/>
            <a:ext cx="2880360" cy="45720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Letter height = 2.25 mm</a:t>
            </a:r>
            <a:endParaRPr lang="en-US" sz="1100" dirty="0"/>
          </a:p>
        </p:txBody>
      </p:sp>
      <p:sp>
        <p:nvSpPr>
          <p:cNvPr id="46" name="Text 39"/>
          <p:cNvSpPr txBox="1"/>
          <p:nvPr/>
        </p:nvSpPr>
        <p:spPr>
          <a:xfrm>
            <a:off x="3794760" y="4974336"/>
            <a:ext cx="1874520" cy="457200"/>
          </a:xfrm>
          <a:prstGeom prst="rect">
            <a:avLst/>
          </a:prstGeom>
          <a:noFill/>
          <a:ln/>
        </p:spPr>
        <p:txBody>
          <a:bodyPr wrap="square" lIns="0" tIns="0" rIns="0" bIns="0" rtlCol="0" anchor="ctr"/>
          <a:lstStyle/>
          <a:p>
            <a:pPr algn="r" indent="0" marL="0">
              <a:buNone/>
            </a:pPr>
            <a:r>
              <a:rPr lang="en-US" sz="950" dirty="0">
                <a:solidFill>
                  <a:srgbClr val="5A6480"/>
                </a:solidFill>
                <a:latin typeface="Calibri" pitchFamily="34" charset="0"/>
                <a:ea typeface="Calibri" pitchFamily="34" charset="-122"/>
                <a:cs typeface="Calibri" pitchFamily="34" charset="-120"/>
              </a:rPr>
              <a:t>9 x 0.25</a:t>
            </a:r>
            <a:endParaRPr lang="en-US" sz="950" dirty="0"/>
          </a:p>
        </p:txBody>
      </p:sp>
      <p:sp>
        <p:nvSpPr>
          <p:cNvPr id="47" name="Shape 40"/>
          <p:cNvSpPr/>
          <p:nvPr/>
        </p:nvSpPr>
        <p:spPr>
          <a:xfrm>
            <a:off x="777240" y="5541264"/>
            <a:ext cx="5029200" cy="457200"/>
          </a:xfrm>
          <a:prstGeom prst="roundRect">
            <a:avLst>
              <a:gd name="adj" fmla="val 16000"/>
            </a:avLst>
          </a:prstGeom>
          <a:solidFill>
            <a:srgbClr val="FFFFFF"/>
          </a:solidFill>
          <a:ln w="12700">
            <a:solidFill>
              <a:srgbClr val="F26430"/>
            </a:solidFill>
            <a:prstDash val="solid"/>
          </a:ln>
        </p:spPr>
      </p:sp>
      <p:sp>
        <p:nvSpPr>
          <p:cNvPr id="48" name="Text 41"/>
          <p:cNvSpPr txBox="1"/>
          <p:nvPr/>
        </p:nvSpPr>
        <p:spPr>
          <a:xfrm>
            <a:off x="914400" y="5541264"/>
            <a:ext cx="2880360" cy="457200"/>
          </a:xfrm>
          <a:prstGeom prst="rect">
            <a:avLst/>
          </a:prstGeom>
          <a:noFill/>
          <a:ln/>
        </p:spPr>
        <p:txBody>
          <a:bodyPr wrap="square" lIns="0" tIns="0" rIns="0" bIns="0" rtlCol="0" anchor="ctr"/>
          <a:lstStyle/>
          <a:p>
            <a:pPr indent="0" marL="0">
              <a:buNone/>
            </a:pPr>
            <a:r>
              <a:rPr lang="en-US" sz="1100" b="1" dirty="0">
                <a:solidFill>
                  <a:srgbClr val="F26430"/>
                </a:solidFill>
                <a:latin typeface="Calibri" pitchFamily="34" charset="0"/>
                <a:ea typeface="Calibri" pitchFamily="34" charset="-122"/>
                <a:cs typeface="Calibri" pitchFamily="34" charset="-120"/>
              </a:rPr>
              <a:t>Rule 7 requires 2.5 mm</a:t>
            </a:r>
            <a:endParaRPr lang="en-US" sz="1100" dirty="0"/>
          </a:p>
        </p:txBody>
      </p:sp>
      <p:sp>
        <p:nvSpPr>
          <p:cNvPr id="49" name="Text 42"/>
          <p:cNvSpPr txBox="1"/>
          <p:nvPr/>
        </p:nvSpPr>
        <p:spPr>
          <a:xfrm>
            <a:off x="3794760" y="5541264"/>
            <a:ext cx="1874520" cy="457200"/>
          </a:xfrm>
          <a:prstGeom prst="rect">
            <a:avLst/>
          </a:prstGeom>
          <a:noFill/>
          <a:ln/>
        </p:spPr>
        <p:txBody>
          <a:bodyPr wrap="square" lIns="0" tIns="0" rIns="0" bIns="0" rtlCol="0" anchor="ctr"/>
          <a:lstStyle/>
          <a:p>
            <a:pPr algn="r" indent="0" marL="0">
              <a:buNone/>
            </a:pPr>
            <a:r>
              <a:rPr lang="en-US" sz="950" dirty="0">
                <a:solidFill>
                  <a:srgbClr val="5A6480"/>
                </a:solidFill>
                <a:latin typeface="Calibri" pitchFamily="34" charset="0"/>
                <a:ea typeface="Calibri" pitchFamily="34" charset="-122"/>
                <a:cs typeface="Calibri" pitchFamily="34" charset="-120"/>
              </a:rPr>
              <a:t>NON-COMPLIANT</a:t>
            </a:r>
            <a:endParaRPr lang="en-US" sz="950" dirty="0"/>
          </a:p>
        </p:txBody>
      </p:sp>
      <p:sp>
        <p:nvSpPr>
          <p:cNvPr id="50" name="Shape 43"/>
          <p:cNvSpPr/>
          <p:nvPr/>
        </p:nvSpPr>
        <p:spPr>
          <a:xfrm>
            <a:off x="6263640" y="2788920"/>
            <a:ext cx="5376672" cy="3401568"/>
          </a:xfrm>
          <a:prstGeom prst="roundRect">
            <a:avLst>
              <a:gd name="adj" fmla="val 2151"/>
            </a:avLst>
          </a:prstGeom>
          <a:solidFill>
            <a:srgbClr val="FFFFFF"/>
          </a:solidFill>
          <a:ln w="12700">
            <a:solidFill>
              <a:srgbClr val="D5DCEC"/>
            </a:solidFill>
            <a:prstDash val="solid"/>
          </a:ln>
        </p:spPr>
      </p:sp>
      <p:sp>
        <p:nvSpPr>
          <p:cNvPr id="51" name="Text 44"/>
          <p:cNvSpPr txBox="1"/>
          <p:nvPr/>
        </p:nvSpPr>
        <p:spPr>
          <a:xfrm>
            <a:off x="6492240" y="2971800"/>
            <a:ext cx="4937760" cy="237744"/>
          </a:xfrm>
          <a:prstGeom prst="rect">
            <a:avLst/>
          </a:prstGeom>
          <a:noFill/>
          <a:ln/>
        </p:spPr>
        <p:txBody>
          <a:bodyPr wrap="square" lIns="0" tIns="0" rIns="0" bIns="0" rtlCol="0" anchor="ctr"/>
          <a:lstStyle/>
          <a:p>
            <a:pPr indent="0" marL="0">
              <a:buNone/>
            </a:pPr>
            <a:r>
              <a:rPr lang="en-US" sz="1000" b="1" spc="110" kern="0" dirty="0">
                <a:solidFill>
                  <a:srgbClr val="5A6480"/>
                </a:solidFill>
                <a:latin typeface="Calibri" pitchFamily="34" charset="0"/>
                <a:ea typeface="Calibri" pitchFamily="34" charset="-122"/>
                <a:cs typeface="Calibri" pitchFamily="34" charset="-120"/>
              </a:rPr>
              <a:t>TECHNOLOGY STACK</a:t>
            </a:r>
            <a:endParaRPr lang="en-US" sz="1000" dirty="0"/>
          </a:p>
        </p:txBody>
      </p:sp>
      <p:sp>
        <p:nvSpPr>
          <p:cNvPr id="52" name="Shape 45"/>
          <p:cNvSpPr/>
          <p:nvPr/>
        </p:nvSpPr>
        <p:spPr>
          <a:xfrm>
            <a:off x="6492240" y="3291840"/>
            <a:ext cx="4937760" cy="310896"/>
          </a:xfrm>
          <a:prstGeom prst="rect">
            <a:avLst/>
          </a:prstGeom>
          <a:solidFill>
            <a:srgbClr val="F6F8FD"/>
          </a:solidFill>
          <a:ln w="12700">
            <a:solidFill>
              <a:srgbClr val="F6F8FD"/>
            </a:solidFill>
            <a:prstDash val="solid"/>
          </a:ln>
        </p:spPr>
      </p:sp>
      <p:sp>
        <p:nvSpPr>
          <p:cNvPr id="53" name="Text 46"/>
          <p:cNvSpPr txBox="1"/>
          <p:nvPr/>
        </p:nvSpPr>
        <p:spPr>
          <a:xfrm>
            <a:off x="6583680" y="3291840"/>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Language</a:t>
            </a:r>
            <a:endParaRPr lang="en-US" sz="1050" dirty="0"/>
          </a:p>
        </p:txBody>
      </p:sp>
      <p:sp>
        <p:nvSpPr>
          <p:cNvPr id="54" name="Text 47"/>
          <p:cNvSpPr txBox="1"/>
          <p:nvPr/>
        </p:nvSpPr>
        <p:spPr>
          <a:xfrm>
            <a:off x="8275320" y="3291840"/>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Python 3</a:t>
            </a:r>
            <a:endParaRPr lang="en-US" sz="1050" dirty="0"/>
          </a:p>
        </p:txBody>
      </p:sp>
      <p:sp>
        <p:nvSpPr>
          <p:cNvPr id="55" name="Text 48"/>
          <p:cNvSpPr txBox="1"/>
          <p:nvPr/>
        </p:nvSpPr>
        <p:spPr>
          <a:xfrm>
            <a:off x="6583680" y="3625596"/>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Web application</a:t>
            </a:r>
            <a:endParaRPr lang="en-US" sz="1050" dirty="0"/>
          </a:p>
        </p:txBody>
      </p:sp>
      <p:sp>
        <p:nvSpPr>
          <p:cNvPr id="56" name="Text 49"/>
          <p:cNvSpPr txBox="1"/>
          <p:nvPr/>
        </p:nvSpPr>
        <p:spPr>
          <a:xfrm>
            <a:off x="8275320" y="3625596"/>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Streamlit</a:t>
            </a:r>
            <a:endParaRPr lang="en-US" sz="1050" dirty="0"/>
          </a:p>
        </p:txBody>
      </p:sp>
      <p:sp>
        <p:nvSpPr>
          <p:cNvPr id="57" name="Shape 50"/>
          <p:cNvSpPr/>
          <p:nvPr/>
        </p:nvSpPr>
        <p:spPr>
          <a:xfrm>
            <a:off x="6492240" y="3959352"/>
            <a:ext cx="4937760" cy="310896"/>
          </a:xfrm>
          <a:prstGeom prst="rect">
            <a:avLst/>
          </a:prstGeom>
          <a:solidFill>
            <a:srgbClr val="F6F8FD"/>
          </a:solidFill>
          <a:ln w="12700">
            <a:solidFill>
              <a:srgbClr val="F6F8FD"/>
            </a:solidFill>
            <a:prstDash val="solid"/>
          </a:ln>
        </p:spPr>
      </p:sp>
      <p:sp>
        <p:nvSpPr>
          <p:cNvPr id="58" name="Text 51"/>
          <p:cNvSpPr txBox="1"/>
          <p:nvPr/>
        </p:nvSpPr>
        <p:spPr>
          <a:xfrm>
            <a:off x="6583680" y="3959352"/>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Text recognition</a:t>
            </a:r>
            <a:endParaRPr lang="en-US" sz="1050" dirty="0"/>
          </a:p>
        </p:txBody>
      </p:sp>
      <p:sp>
        <p:nvSpPr>
          <p:cNvPr id="59" name="Text 52"/>
          <p:cNvSpPr txBox="1"/>
          <p:nvPr/>
        </p:nvSpPr>
        <p:spPr>
          <a:xfrm>
            <a:off x="8275320" y="3959352"/>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EasyOCR / PaddleOCR (EN + Hindi)</a:t>
            </a:r>
            <a:endParaRPr lang="en-US" sz="1050" dirty="0"/>
          </a:p>
        </p:txBody>
      </p:sp>
      <p:sp>
        <p:nvSpPr>
          <p:cNvPr id="60" name="Text 53"/>
          <p:cNvSpPr txBox="1"/>
          <p:nvPr/>
        </p:nvSpPr>
        <p:spPr>
          <a:xfrm>
            <a:off x="6583680" y="4293108"/>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Measurement</a:t>
            </a:r>
            <a:endParaRPr lang="en-US" sz="1050" dirty="0"/>
          </a:p>
        </p:txBody>
      </p:sp>
      <p:sp>
        <p:nvSpPr>
          <p:cNvPr id="61" name="Text 54"/>
          <p:cNvSpPr txBox="1"/>
          <p:nvPr/>
        </p:nvSpPr>
        <p:spPr>
          <a:xfrm>
            <a:off x="8275320" y="4293108"/>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OpenCV — ArUco markers</a:t>
            </a:r>
            <a:endParaRPr lang="en-US" sz="1050" dirty="0"/>
          </a:p>
        </p:txBody>
      </p:sp>
      <p:sp>
        <p:nvSpPr>
          <p:cNvPr id="62" name="Shape 55"/>
          <p:cNvSpPr/>
          <p:nvPr/>
        </p:nvSpPr>
        <p:spPr>
          <a:xfrm>
            <a:off x="6492240" y="4626864"/>
            <a:ext cx="4937760" cy="310896"/>
          </a:xfrm>
          <a:prstGeom prst="rect">
            <a:avLst/>
          </a:prstGeom>
          <a:solidFill>
            <a:srgbClr val="F6F8FD"/>
          </a:solidFill>
          <a:ln w="12700">
            <a:solidFill>
              <a:srgbClr val="F6F8FD"/>
            </a:solidFill>
            <a:prstDash val="solid"/>
          </a:ln>
        </p:spPr>
      </p:sp>
      <p:sp>
        <p:nvSpPr>
          <p:cNvPr id="63" name="Text 56"/>
          <p:cNvSpPr txBox="1"/>
          <p:nvPr/>
        </p:nvSpPr>
        <p:spPr>
          <a:xfrm>
            <a:off x="6583680" y="4626864"/>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Rule engine</a:t>
            </a:r>
            <a:endParaRPr lang="en-US" sz="1050" dirty="0"/>
          </a:p>
        </p:txBody>
      </p:sp>
      <p:sp>
        <p:nvSpPr>
          <p:cNvPr id="64" name="Text 57"/>
          <p:cNvSpPr txBox="1"/>
          <p:nvPr/>
        </p:nvSpPr>
        <p:spPr>
          <a:xfrm>
            <a:off x="8275320" y="4626864"/>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Versioned JSON rule pack</a:t>
            </a:r>
            <a:endParaRPr lang="en-US" sz="1050" dirty="0"/>
          </a:p>
        </p:txBody>
      </p:sp>
      <p:sp>
        <p:nvSpPr>
          <p:cNvPr id="65" name="Text 58"/>
          <p:cNvSpPr txBox="1"/>
          <p:nvPr/>
        </p:nvSpPr>
        <p:spPr>
          <a:xfrm>
            <a:off x="6583680" y="4960620"/>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Storage</a:t>
            </a:r>
            <a:endParaRPr lang="en-US" sz="1050" dirty="0"/>
          </a:p>
        </p:txBody>
      </p:sp>
      <p:sp>
        <p:nvSpPr>
          <p:cNvPr id="66" name="Text 59"/>
          <p:cNvSpPr txBox="1"/>
          <p:nvPr/>
        </p:nvSpPr>
        <p:spPr>
          <a:xfrm>
            <a:off x="8275320" y="4960620"/>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SQLite</a:t>
            </a:r>
            <a:endParaRPr lang="en-US" sz="1050" dirty="0"/>
          </a:p>
        </p:txBody>
      </p:sp>
      <p:sp>
        <p:nvSpPr>
          <p:cNvPr id="67" name="Shape 60"/>
          <p:cNvSpPr/>
          <p:nvPr/>
        </p:nvSpPr>
        <p:spPr>
          <a:xfrm>
            <a:off x="6492240" y="5294376"/>
            <a:ext cx="4937760" cy="310896"/>
          </a:xfrm>
          <a:prstGeom prst="rect">
            <a:avLst/>
          </a:prstGeom>
          <a:solidFill>
            <a:srgbClr val="F6F8FD"/>
          </a:solidFill>
          <a:ln w="12700">
            <a:solidFill>
              <a:srgbClr val="F6F8FD"/>
            </a:solidFill>
            <a:prstDash val="solid"/>
          </a:ln>
        </p:spPr>
      </p:sp>
      <p:sp>
        <p:nvSpPr>
          <p:cNvPr id="68" name="Text 61"/>
          <p:cNvSpPr txBox="1"/>
          <p:nvPr/>
        </p:nvSpPr>
        <p:spPr>
          <a:xfrm>
            <a:off x="6583680" y="5294376"/>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Dashboard</a:t>
            </a:r>
            <a:endParaRPr lang="en-US" sz="1050" dirty="0"/>
          </a:p>
        </p:txBody>
      </p:sp>
      <p:sp>
        <p:nvSpPr>
          <p:cNvPr id="69" name="Text 62"/>
          <p:cNvSpPr txBox="1"/>
          <p:nvPr/>
        </p:nvSpPr>
        <p:spPr>
          <a:xfrm>
            <a:off x="8275320" y="5294376"/>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Plotly</a:t>
            </a:r>
            <a:endParaRPr lang="en-US" sz="1050" dirty="0"/>
          </a:p>
        </p:txBody>
      </p:sp>
      <p:sp>
        <p:nvSpPr>
          <p:cNvPr id="70" name="Text 63"/>
          <p:cNvSpPr txBox="1"/>
          <p:nvPr/>
        </p:nvSpPr>
        <p:spPr>
          <a:xfrm>
            <a:off x="6583680" y="5628132"/>
            <a:ext cx="1691640" cy="31089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Reports</a:t>
            </a:r>
            <a:endParaRPr lang="en-US" sz="1050" dirty="0"/>
          </a:p>
        </p:txBody>
      </p:sp>
      <p:sp>
        <p:nvSpPr>
          <p:cNvPr id="71" name="Text 64"/>
          <p:cNvSpPr txBox="1"/>
          <p:nvPr/>
        </p:nvSpPr>
        <p:spPr>
          <a:xfrm>
            <a:off x="8275320" y="5628132"/>
            <a:ext cx="3063240" cy="31089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fpdf2 — signed PDF evidence</a:t>
            </a:r>
            <a:endParaRPr lang="en-US" sz="1050" dirty="0"/>
          </a:p>
        </p:txBody>
      </p:sp>
      <p:sp>
        <p:nvSpPr>
          <p:cNvPr id="72" name="Text 65"/>
          <p:cNvSpPr txBox="1"/>
          <p:nvPr/>
        </p:nvSpPr>
        <p:spPr>
          <a:xfrm>
            <a:off x="6492240" y="5943600"/>
            <a:ext cx="4937760" cy="219456"/>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All open-source.  No paid APIs.  Runs on a laptop.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566928"/>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Feasibility and Viability</a:t>
            </a:r>
            <a:endParaRPr lang="en-US" sz="3400" dirty="0"/>
          </a:p>
        </p:txBody>
      </p:sp>
      <p:sp>
        <p:nvSpPr>
          <p:cNvPr id="3" name="Text 1"/>
          <p:cNvSpPr txBox="1"/>
          <p:nvPr/>
        </p:nvSpPr>
        <p:spPr>
          <a:xfrm>
            <a:off x="548640" y="914400"/>
            <a:ext cx="10058400" cy="256032"/>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Feasibility analysis  ·  Potential challenges and risks  ·  Strategies for overcoming them</a:t>
            </a:r>
            <a:endParaRPr lang="en-US" sz="1150" dirty="0"/>
          </a:p>
        </p:txBody>
      </p:sp>
      <p:sp>
        <p:nvSpPr>
          <p:cNvPr id="4" name="Shape 2"/>
          <p:cNvSpPr/>
          <p:nvPr/>
        </p:nvSpPr>
        <p:spPr>
          <a:xfrm>
            <a:off x="548640" y="1298448"/>
            <a:ext cx="2724912" cy="1325880"/>
          </a:xfrm>
          <a:prstGeom prst="roundRect">
            <a:avLst>
              <a:gd name="adj" fmla="val 5517"/>
            </a:avLst>
          </a:prstGeom>
          <a:solidFill>
            <a:srgbClr val="EEF2FB"/>
          </a:solidFill>
          <a:ln w="12700">
            <a:solidFill>
              <a:srgbClr val="DAE3F5"/>
            </a:solidFill>
            <a:prstDash val="solid"/>
          </a:ln>
        </p:spPr>
      </p:sp>
      <p:sp>
        <p:nvSpPr>
          <p:cNvPr id="5" name="Text 3"/>
          <p:cNvSpPr txBox="1"/>
          <p:nvPr/>
        </p:nvSpPr>
        <p:spPr>
          <a:xfrm>
            <a:off x="749808" y="1417320"/>
            <a:ext cx="2322576" cy="621792"/>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40</a:t>
            </a:r>
            <a:endParaRPr lang="en-US" sz="4000" dirty="0"/>
          </a:p>
        </p:txBody>
      </p:sp>
      <p:sp>
        <p:nvSpPr>
          <p:cNvPr id="6" name="Text 4"/>
          <p:cNvSpPr txBox="1"/>
          <p:nvPr/>
        </p:nvSpPr>
        <p:spPr>
          <a:xfrm>
            <a:off x="749808" y="2029968"/>
            <a:ext cx="2322576" cy="512064"/>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retail packets</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collected and tested</a:t>
            </a:r>
            <a:endParaRPr lang="en-US" sz="1000" dirty="0"/>
          </a:p>
        </p:txBody>
      </p:sp>
      <p:sp>
        <p:nvSpPr>
          <p:cNvPr id="7" name="Shape 5"/>
          <p:cNvSpPr/>
          <p:nvPr/>
        </p:nvSpPr>
        <p:spPr>
          <a:xfrm>
            <a:off x="3456432" y="1298448"/>
            <a:ext cx="2724912" cy="1325880"/>
          </a:xfrm>
          <a:prstGeom prst="roundRect">
            <a:avLst>
              <a:gd name="adj" fmla="val 5517"/>
            </a:avLst>
          </a:prstGeom>
          <a:solidFill>
            <a:srgbClr val="1E2761"/>
          </a:solidFill>
          <a:ln w="12700">
            <a:solidFill>
              <a:srgbClr val="1E2761"/>
            </a:solidFill>
            <a:prstDash val="solid"/>
          </a:ln>
        </p:spPr>
      </p:sp>
      <p:sp>
        <p:nvSpPr>
          <p:cNvPr id="8" name="Text 6"/>
          <p:cNvSpPr txBox="1"/>
          <p:nvPr/>
        </p:nvSpPr>
        <p:spPr>
          <a:xfrm>
            <a:off x="3657600" y="1417320"/>
            <a:ext cx="2322576" cy="621792"/>
          </a:xfrm>
          <a:prstGeom prst="rect">
            <a:avLst/>
          </a:prstGeom>
          <a:noFill/>
          <a:ln/>
        </p:spPr>
        <p:txBody>
          <a:bodyPr wrap="square" lIns="0" tIns="0" rIns="0" bIns="0" rtlCol="0" anchor="ctr"/>
          <a:lstStyle/>
          <a:p>
            <a:pPr indent="0" marL="0">
              <a:buNone/>
            </a:pPr>
            <a:r>
              <a:rPr lang="en-US" sz="3400" b="1" dirty="0">
                <a:solidFill>
                  <a:srgbClr val="F26430"/>
                </a:solidFill>
                <a:latin typeface="Cambria" pitchFamily="34" charset="0"/>
                <a:ea typeface="Cambria" pitchFamily="34" charset="-122"/>
                <a:cs typeface="Cambria" pitchFamily="34" charset="-120"/>
              </a:rPr>
              <a:t>±0.2 mm</a:t>
            </a:r>
            <a:endParaRPr lang="en-US" sz="3400" dirty="0"/>
          </a:p>
        </p:txBody>
      </p:sp>
      <p:sp>
        <p:nvSpPr>
          <p:cNvPr id="9" name="Text 7"/>
          <p:cNvSpPr txBox="1"/>
          <p:nvPr/>
        </p:nvSpPr>
        <p:spPr>
          <a:xfrm>
            <a:off x="3657600" y="2029968"/>
            <a:ext cx="2322576" cy="512064"/>
          </a:xfrm>
          <a:prstGeom prst="rect">
            <a:avLst/>
          </a:prstGeom>
          <a:noFill/>
          <a:ln/>
        </p:spPr>
        <p:txBody>
          <a:bodyPr wrap="square" lIns="0" tIns="0" rIns="0" bIns="0" rtlCol="0" anchor="t"/>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measurement error vs</a:t>
            </a:r>
            <a:endParaRPr lang="en-US" sz="1000" dirty="0"/>
          </a:p>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20 hand-measured labels</a:t>
            </a:r>
            <a:endParaRPr lang="en-US" sz="1000" dirty="0"/>
          </a:p>
        </p:txBody>
      </p:sp>
      <p:sp>
        <p:nvSpPr>
          <p:cNvPr id="10" name="Shape 8"/>
          <p:cNvSpPr/>
          <p:nvPr/>
        </p:nvSpPr>
        <p:spPr>
          <a:xfrm>
            <a:off x="6364224" y="1298448"/>
            <a:ext cx="2724912" cy="1325880"/>
          </a:xfrm>
          <a:prstGeom prst="roundRect">
            <a:avLst>
              <a:gd name="adj" fmla="val 5517"/>
            </a:avLst>
          </a:prstGeom>
          <a:solidFill>
            <a:srgbClr val="EEF2FB"/>
          </a:solidFill>
          <a:ln w="12700">
            <a:solidFill>
              <a:srgbClr val="DAE3F5"/>
            </a:solidFill>
            <a:prstDash val="solid"/>
          </a:ln>
        </p:spPr>
      </p:sp>
      <p:sp>
        <p:nvSpPr>
          <p:cNvPr id="11" name="Text 9"/>
          <p:cNvSpPr txBox="1"/>
          <p:nvPr/>
        </p:nvSpPr>
        <p:spPr>
          <a:xfrm>
            <a:off x="6565392" y="1417320"/>
            <a:ext cx="2322576" cy="621792"/>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12</a:t>
            </a:r>
            <a:endParaRPr lang="en-US" sz="4000" dirty="0"/>
          </a:p>
        </p:txBody>
      </p:sp>
      <p:sp>
        <p:nvSpPr>
          <p:cNvPr id="12" name="Text 10"/>
          <p:cNvSpPr txBox="1"/>
          <p:nvPr/>
        </p:nvSpPr>
        <p:spPr>
          <a:xfrm>
            <a:off x="6565392" y="2029968"/>
            <a:ext cx="2322576" cy="512064"/>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rules encoded in the</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first rule pack</a:t>
            </a:r>
            <a:endParaRPr lang="en-US" sz="1000" dirty="0"/>
          </a:p>
        </p:txBody>
      </p:sp>
      <p:sp>
        <p:nvSpPr>
          <p:cNvPr id="13" name="Shape 11"/>
          <p:cNvSpPr/>
          <p:nvPr/>
        </p:nvSpPr>
        <p:spPr>
          <a:xfrm>
            <a:off x="9272016" y="1298448"/>
            <a:ext cx="2724912" cy="1325880"/>
          </a:xfrm>
          <a:prstGeom prst="roundRect">
            <a:avLst>
              <a:gd name="adj" fmla="val 5517"/>
            </a:avLst>
          </a:prstGeom>
          <a:solidFill>
            <a:srgbClr val="EEF2FB"/>
          </a:solidFill>
          <a:ln w="12700">
            <a:solidFill>
              <a:srgbClr val="DAE3F5"/>
            </a:solidFill>
            <a:prstDash val="solid"/>
          </a:ln>
        </p:spPr>
      </p:sp>
      <p:sp>
        <p:nvSpPr>
          <p:cNvPr id="14" name="Text 12"/>
          <p:cNvSpPr txBox="1"/>
          <p:nvPr/>
        </p:nvSpPr>
        <p:spPr>
          <a:xfrm>
            <a:off x="9473184" y="1417320"/>
            <a:ext cx="2322576" cy="621792"/>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0</a:t>
            </a:r>
            <a:endParaRPr lang="en-US" sz="4000" dirty="0"/>
          </a:p>
        </p:txBody>
      </p:sp>
      <p:sp>
        <p:nvSpPr>
          <p:cNvPr id="15" name="Text 13"/>
          <p:cNvSpPr txBox="1"/>
          <p:nvPr/>
        </p:nvSpPr>
        <p:spPr>
          <a:xfrm>
            <a:off x="9473184" y="2029968"/>
            <a:ext cx="2322576" cy="512064"/>
          </a:xfrm>
          <a:prstGeom prst="rect">
            <a:avLst/>
          </a:prstGeom>
          <a:noFill/>
          <a:ln/>
        </p:spPr>
        <p:txBody>
          <a:bodyPr wrap="square" lIns="0" tIns="0" rIns="0" bIns="0" rtlCol="0" anchor="t"/>
          <a:lstStyle/>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paid components —</a:t>
            </a:r>
            <a:endParaRPr lang="en-US" sz="1000" dirty="0"/>
          </a:p>
          <a:p>
            <a:pPr indent="0" marL="0">
              <a:lnSpc>
                <a:spcPct val="105000"/>
              </a:lnSpc>
              <a:buNone/>
            </a:pPr>
            <a:r>
              <a:rPr lang="en-US" sz="1000" dirty="0">
                <a:solidFill>
                  <a:srgbClr val="5A6480"/>
                </a:solidFill>
                <a:latin typeface="Calibri" pitchFamily="34" charset="0"/>
                <a:ea typeface="Calibri" pitchFamily="34" charset="-122"/>
                <a:cs typeface="Calibri" pitchFamily="34" charset="-120"/>
              </a:rPr>
              <a:t>fully open-source</a:t>
            </a:r>
            <a:endParaRPr lang="en-US" sz="1000" dirty="0"/>
          </a:p>
        </p:txBody>
      </p:sp>
      <p:sp>
        <p:nvSpPr>
          <p:cNvPr id="16" name="Text 14"/>
          <p:cNvSpPr txBox="1"/>
          <p:nvPr/>
        </p:nvSpPr>
        <p:spPr>
          <a:xfrm>
            <a:off x="548640" y="2761488"/>
            <a:ext cx="11091672" cy="256032"/>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Working prototype already running — every component is a mature open-source library, nothing needs to be invented.</a:t>
            </a:r>
            <a:endParaRPr lang="en-US" sz="1150" dirty="0"/>
          </a:p>
        </p:txBody>
      </p:sp>
      <p:sp>
        <p:nvSpPr>
          <p:cNvPr id="17" name="Text 15"/>
          <p:cNvSpPr txBox="1"/>
          <p:nvPr/>
        </p:nvSpPr>
        <p:spPr>
          <a:xfrm>
            <a:off x="685800" y="3154680"/>
            <a:ext cx="4754880" cy="237744"/>
          </a:xfrm>
          <a:prstGeom prst="rect">
            <a:avLst/>
          </a:prstGeom>
          <a:noFill/>
          <a:ln/>
        </p:spPr>
        <p:txBody>
          <a:bodyPr wrap="square" lIns="0" tIns="0" rIns="0" bIns="0" rtlCol="0" anchor="ctr"/>
          <a:lstStyle/>
          <a:p>
            <a:pPr indent="0" marL="0">
              <a:buNone/>
            </a:pPr>
            <a:r>
              <a:rPr lang="en-US" sz="950" b="1" spc="110" kern="0" dirty="0">
                <a:solidFill>
                  <a:srgbClr val="5A6480"/>
                </a:solidFill>
                <a:latin typeface="Calibri" pitchFamily="34" charset="0"/>
                <a:ea typeface="Calibri" pitchFamily="34" charset="-122"/>
                <a:cs typeface="Calibri" pitchFamily="34" charset="-120"/>
              </a:rPr>
              <a:t>CHALLENGE OR RISK</a:t>
            </a:r>
            <a:endParaRPr lang="en-US" sz="950" dirty="0"/>
          </a:p>
        </p:txBody>
      </p:sp>
      <p:sp>
        <p:nvSpPr>
          <p:cNvPr id="18" name="Text 16"/>
          <p:cNvSpPr txBox="1"/>
          <p:nvPr/>
        </p:nvSpPr>
        <p:spPr>
          <a:xfrm>
            <a:off x="5943600" y="3154680"/>
            <a:ext cx="5486400" cy="237744"/>
          </a:xfrm>
          <a:prstGeom prst="rect">
            <a:avLst/>
          </a:prstGeom>
          <a:noFill/>
          <a:ln/>
        </p:spPr>
        <p:txBody>
          <a:bodyPr wrap="square" lIns="0" tIns="0" rIns="0" bIns="0" rtlCol="0" anchor="ctr"/>
          <a:lstStyle/>
          <a:p>
            <a:pPr indent="0" marL="0">
              <a:buNone/>
            </a:pPr>
            <a:r>
              <a:rPr lang="en-US" sz="950" b="1" spc="110" kern="0" dirty="0">
                <a:solidFill>
                  <a:srgbClr val="5A6480"/>
                </a:solidFill>
                <a:latin typeface="Calibri" pitchFamily="34" charset="0"/>
                <a:ea typeface="Calibri" pitchFamily="34" charset="-122"/>
                <a:cs typeface="Calibri" pitchFamily="34" charset="-120"/>
              </a:rPr>
              <a:t>OUR STRATEGY</a:t>
            </a:r>
            <a:endParaRPr lang="en-US" sz="950" dirty="0"/>
          </a:p>
        </p:txBody>
      </p:sp>
      <p:sp>
        <p:nvSpPr>
          <p:cNvPr id="19" name="Shape 17"/>
          <p:cNvSpPr/>
          <p:nvPr/>
        </p:nvSpPr>
        <p:spPr>
          <a:xfrm>
            <a:off x="548640" y="3456432"/>
            <a:ext cx="11091672" cy="493776"/>
          </a:xfrm>
          <a:prstGeom prst="roundRect">
            <a:avLst>
              <a:gd name="adj" fmla="val 14815"/>
            </a:avLst>
          </a:prstGeom>
          <a:solidFill>
            <a:srgbClr val="F6F8FD"/>
          </a:solidFill>
          <a:ln w="12700">
            <a:solidFill>
              <a:srgbClr val="D5DCEC"/>
            </a:solidFill>
            <a:prstDash val="solid"/>
          </a:ln>
        </p:spPr>
      </p:sp>
      <p:sp>
        <p:nvSpPr>
          <p:cNvPr id="20" name="Text 18"/>
          <p:cNvSpPr txBox="1"/>
          <p:nvPr/>
        </p:nvSpPr>
        <p:spPr>
          <a:xfrm>
            <a:off x="685800" y="3456432"/>
            <a:ext cx="5074920" cy="49377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Curved bottles and tins distort the text</a:t>
            </a:r>
            <a:endParaRPr lang="en-US" sz="1050" dirty="0"/>
          </a:p>
        </p:txBody>
      </p:sp>
      <p:sp>
        <p:nvSpPr>
          <p:cNvPr id="21" name="Text 19"/>
          <p:cNvSpPr txBox="1"/>
          <p:nvPr/>
        </p:nvSpPr>
        <p:spPr>
          <a:xfrm>
            <a:off x="5943600" y="3456432"/>
            <a:ext cx="5577840" cy="49377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Detect pack shape, apply cylindrical correction, guide capture to the flat centre panel</a:t>
            </a:r>
            <a:endParaRPr lang="en-US" sz="1050" dirty="0"/>
          </a:p>
        </p:txBody>
      </p:sp>
      <p:sp>
        <p:nvSpPr>
          <p:cNvPr id="22" name="Shape 20"/>
          <p:cNvSpPr/>
          <p:nvPr/>
        </p:nvSpPr>
        <p:spPr>
          <a:xfrm>
            <a:off x="548640" y="4014216"/>
            <a:ext cx="11091672" cy="493776"/>
          </a:xfrm>
          <a:prstGeom prst="roundRect">
            <a:avLst>
              <a:gd name="adj" fmla="val 14815"/>
            </a:avLst>
          </a:prstGeom>
          <a:solidFill>
            <a:srgbClr val="FFFFFF"/>
          </a:solidFill>
          <a:ln w="12700">
            <a:solidFill>
              <a:srgbClr val="D5DCEC"/>
            </a:solidFill>
            <a:prstDash val="solid"/>
          </a:ln>
        </p:spPr>
      </p:sp>
      <p:sp>
        <p:nvSpPr>
          <p:cNvPr id="23" name="Text 21"/>
          <p:cNvSpPr txBox="1"/>
          <p:nvPr/>
        </p:nvSpPr>
        <p:spPr>
          <a:xfrm>
            <a:off x="685800" y="4014216"/>
            <a:ext cx="5074920" cy="49377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Shiny, metallised or crumpled wrappers</a:t>
            </a:r>
            <a:endParaRPr lang="en-US" sz="1050" dirty="0"/>
          </a:p>
        </p:txBody>
      </p:sp>
      <p:sp>
        <p:nvSpPr>
          <p:cNvPr id="24" name="Text 22"/>
          <p:cNvSpPr txBox="1"/>
          <p:nvPr/>
        </p:nvSpPr>
        <p:spPr>
          <a:xfrm>
            <a:off x="5943600" y="4014216"/>
            <a:ext cx="5577840" cy="49377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In-app capture guidance on angle and glare; merge results from multiple shots</a:t>
            </a:r>
            <a:endParaRPr lang="en-US" sz="1050" dirty="0"/>
          </a:p>
        </p:txBody>
      </p:sp>
      <p:sp>
        <p:nvSpPr>
          <p:cNvPr id="25" name="Shape 23"/>
          <p:cNvSpPr/>
          <p:nvPr/>
        </p:nvSpPr>
        <p:spPr>
          <a:xfrm>
            <a:off x="548640" y="4572000"/>
            <a:ext cx="11091672" cy="493776"/>
          </a:xfrm>
          <a:prstGeom prst="roundRect">
            <a:avLst>
              <a:gd name="adj" fmla="val 14815"/>
            </a:avLst>
          </a:prstGeom>
          <a:solidFill>
            <a:srgbClr val="F6F8FD"/>
          </a:solidFill>
          <a:ln w="12700">
            <a:solidFill>
              <a:srgbClr val="D5DCEC"/>
            </a:solidFill>
            <a:prstDash val="solid"/>
          </a:ln>
        </p:spPr>
      </p:sp>
      <p:sp>
        <p:nvSpPr>
          <p:cNvPr id="26" name="Text 24"/>
          <p:cNvSpPr txBox="1"/>
          <p:nvPr/>
        </p:nvSpPr>
        <p:spPr>
          <a:xfrm>
            <a:off x="685800" y="4572000"/>
            <a:ext cx="5074920" cy="49377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OCR misreads a character</a:t>
            </a:r>
            <a:endParaRPr lang="en-US" sz="1050" dirty="0"/>
          </a:p>
        </p:txBody>
      </p:sp>
      <p:sp>
        <p:nvSpPr>
          <p:cNvPr id="27" name="Text 25"/>
          <p:cNvSpPr txBox="1"/>
          <p:nvPr/>
        </p:nvSpPr>
        <p:spPr>
          <a:xfrm>
            <a:off x="5943600" y="4572000"/>
            <a:ext cx="5577840" cy="49377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Every reading shown beside its cropped image; the officer confirms before any action</a:t>
            </a:r>
            <a:endParaRPr lang="en-US" sz="1050" dirty="0"/>
          </a:p>
        </p:txBody>
      </p:sp>
      <p:sp>
        <p:nvSpPr>
          <p:cNvPr id="28" name="Shape 26"/>
          <p:cNvSpPr/>
          <p:nvPr/>
        </p:nvSpPr>
        <p:spPr>
          <a:xfrm>
            <a:off x="548640" y="5129784"/>
            <a:ext cx="11091672" cy="493776"/>
          </a:xfrm>
          <a:prstGeom prst="roundRect">
            <a:avLst>
              <a:gd name="adj" fmla="val 14815"/>
            </a:avLst>
          </a:prstGeom>
          <a:solidFill>
            <a:srgbClr val="FFFFFF"/>
          </a:solidFill>
          <a:ln w="12700">
            <a:solidFill>
              <a:srgbClr val="D5DCEC"/>
            </a:solidFill>
            <a:prstDash val="solid"/>
          </a:ln>
        </p:spPr>
      </p:sp>
      <p:sp>
        <p:nvSpPr>
          <p:cNvPr id="29" name="Text 27"/>
          <p:cNvSpPr txBox="1"/>
          <p:nvPr/>
        </p:nvSpPr>
        <p:spPr>
          <a:xfrm>
            <a:off x="685800" y="5129784"/>
            <a:ext cx="5074920" cy="493776"/>
          </a:xfrm>
          <a:prstGeom prst="rect">
            <a:avLst/>
          </a:prstGeom>
          <a:noFill/>
          <a:ln/>
        </p:spPr>
        <p:txBody>
          <a:bodyPr wrap="square" lIns="0" tIns="0" rIns="0" bIns="0" rtlCol="0" anchor="ctr"/>
          <a:lstStyle/>
          <a:p>
            <a:pPr indent="0" marL="0">
              <a:buNone/>
            </a:pPr>
            <a:r>
              <a:rPr lang="en-US" sz="1050" b="1" dirty="0">
                <a:solidFill>
                  <a:srgbClr val="1A1F36"/>
                </a:solidFill>
                <a:latin typeface="Calibri" pitchFamily="34" charset="0"/>
                <a:ea typeface="Calibri" pitchFamily="34" charset="-122"/>
                <a:cs typeface="Calibri" pitchFamily="34" charset="-120"/>
              </a:rPr>
              <a:t>Rules keep changing</a:t>
            </a:r>
            <a:endParaRPr lang="en-US" sz="1050" dirty="0"/>
          </a:p>
        </p:txBody>
      </p:sp>
      <p:sp>
        <p:nvSpPr>
          <p:cNvPr id="30" name="Text 28"/>
          <p:cNvSpPr txBox="1"/>
          <p:nvPr/>
        </p:nvSpPr>
        <p:spPr>
          <a:xfrm>
            <a:off x="5943600" y="5129784"/>
            <a:ext cx="5577840" cy="493776"/>
          </a:xfrm>
          <a:prstGeom prst="rect">
            <a:avLst/>
          </a:prstGeom>
          <a:noFill/>
          <a:ln/>
        </p:spPr>
        <p:txBody>
          <a:bodyPr wrap="square" lIns="0" tIns="0" rIns="0" bIns="0" rtlCol="0" anchor="ctr"/>
          <a:lstStyle/>
          <a:p>
            <a:pPr indent="0" marL="0">
              <a:buNone/>
            </a:pPr>
            <a:r>
              <a:rPr lang="en-US" sz="1050" dirty="0">
                <a:solidFill>
                  <a:srgbClr val="5A6480"/>
                </a:solidFill>
                <a:latin typeface="Calibri" pitchFamily="34" charset="0"/>
                <a:ea typeface="Calibri" pitchFamily="34" charset="-122"/>
                <a:cs typeface="Calibri" pitchFamily="34" charset="-120"/>
              </a:rPr>
              <a:t>Rules stored as JSON with valid-from dates — judge each pack by the rules in force when it was packed</a:t>
            </a:r>
            <a:endParaRPr lang="en-US" sz="1050" dirty="0"/>
          </a:p>
        </p:txBody>
      </p:sp>
      <p:sp>
        <p:nvSpPr>
          <p:cNvPr id="31" name="Shape 29"/>
          <p:cNvSpPr/>
          <p:nvPr/>
        </p:nvSpPr>
        <p:spPr>
          <a:xfrm>
            <a:off x="548640" y="5687568"/>
            <a:ext cx="11091672" cy="493776"/>
          </a:xfrm>
          <a:prstGeom prst="roundRect">
            <a:avLst>
              <a:gd name="adj" fmla="val 14815"/>
            </a:avLst>
          </a:prstGeom>
          <a:solidFill>
            <a:srgbClr val="FDF0EA"/>
          </a:solidFill>
          <a:ln w="12700">
            <a:solidFill>
              <a:srgbClr val="F26430"/>
            </a:solidFill>
            <a:prstDash val="solid"/>
          </a:ln>
        </p:spPr>
      </p:sp>
      <p:sp>
        <p:nvSpPr>
          <p:cNvPr id="32" name="Text 30"/>
          <p:cNvSpPr txBox="1"/>
          <p:nvPr/>
        </p:nvSpPr>
        <p:spPr>
          <a:xfrm>
            <a:off x="685800" y="5687568"/>
            <a:ext cx="5074920" cy="493776"/>
          </a:xfrm>
          <a:prstGeom prst="rect">
            <a:avLst/>
          </a:prstGeom>
          <a:noFill/>
          <a:ln/>
        </p:spPr>
        <p:txBody>
          <a:bodyPr wrap="square" lIns="0" tIns="0" rIns="0" bIns="0" rtlCol="0" anchor="ctr"/>
          <a:lstStyle/>
          <a:p>
            <a:pPr indent="0" marL="0">
              <a:buNone/>
            </a:pPr>
            <a:r>
              <a:rPr lang="en-US" sz="1050" b="1" dirty="0">
                <a:solidFill>
                  <a:srgbClr val="F26430"/>
                </a:solidFill>
                <a:latin typeface="Calibri" pitchFamily="34" charset="0"/>
                <a:ea typeface="Calibri" pitchFamily="34" charset="-122"/>
                <a:cs typeface="Calibri" pitchFamily="34" charset="-120"/>
              </a:rPr>
              <a:t>Blurred photo, tilt, or missing marker</a:t>
            </a:r>
            <a:endParaRPr lang="en-US" sz="1050" dirty="0"/>
          </a:p>
        </p:txBody>
      </p:sp>
      <p:sp>
        <p:nvSpPr>
          <p:cNvPr id="33" name="Text 31"/>
          <p:cNvSpPr txBox="1"/>
          <p:nvPr/>
        </p:nvSpPr>
        <p:spPr>
          <a:xfrm>
            <a:off x="5943600" y="5687568"/>
            <a:ext cx="5577840" cy="493776"/>
          </a:xfrm>
          <a:prstGeom prst="rect">
            <a:avLst/>
          </a:prstGeom>
          <a:noFill/>
          <a:ln/>
        </p:spPr>
        <p:txBody>
          <a:bodyPr wrap="square" lIns="0" tIns="0" rIns="0" bIns="0" rtlCol="0" anchor="ctr"/>
          <a:lstStyle/>
          <a:p>
            <a:pPr indent="0" marL="0">
              <a:buNone/>
            </a:pPr>
            <a:r>
              <a:rPr lang="en-US" sz="1050" dirty="0">
                <a:solidFill>
                  <a:srgbClr val="1A1F36"/>
                </a:solidFill>
                <a:latin typeface="Calibri" pitchFamily="34" charset="0"/>
                <a:ea typeface="Calibri" pitchFamily="34" charset="-122"/>
                <a:cs typeface="Calibri" pitchFamily="34" charset="-120"/>
              </a:rPr>
              <a:t>Return NEEDS PHYSICAL CHECK, never a verdict. We do not manufacture violations.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566928"/>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Impact and Benefits</a:t>
            </a:r>
            <a:endParaRPr lang="en-US" sz="3400" dirty="0"/>
          </a:p>
        </p:txBody>
      </p:sp>
      <p:sp>
        <p:nvSpPr>
          <p:cNvPr id="3" name="Text 1"/>
          <p:cNvSpPr txBox="1"/>
          <p:nvPr/>
        </p:nvSpPr>
        <p:spPr>
          <a:xfrm>
            <a:off x="548640" y="914400"/>
            <a:ext cx="10058400" cy="256032"/>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Potential impact on the target audience  ·  Social, economic and environmental benefits</a:t>
            </a:r>
            <a:endParaRPr lang="en-US" sz="1150" dirty="0"/>
          </a:p>
        </p:txBody>
      </p:sp>
      <p:sp>
        <p:nvSpPr>
          <p:cNvPr id="4" name="Shape 2"/>
          <p:cNvSpPr/>
          <p:nvPr/>
        </p:nvSpPr>
        <p:spPr>
          <a:xfrm>
            <a:off x="548640" y="1298448"/>
            <a:ext cx="2724912" cy="1938528"/>
          </a:xfrm>
          <a:prstGeom prst="roundRect">
            <a:avLst>
              <a:gd name="adj" fmla="val 3774"/>
            </a:avLst>
          </a:prstGeom>
          <a:solidFill>
            <a:srgbClr val="FFFFFF"/>
          </a:solidFill>
          <a:ln w="12700">
            <a:solidFill>
              <a:srgbClr val="D5DCEC"/>
            </a:solidFill>
            <a:prstDash val="solid"/>
          </a:ln>
        </p:spPr>
      </p:sp>
      <p:sp>
        <p:nvSpPr>
          <p:cNvPr id="5" name="Shape 3"/>
          <p:cNvSpPr/>
          <p:nvPr/>
        </p:nvSpPr>
        <p:spPr>
          <a:xfrm>
            <a:off x="749808" y="1499616"/>
            <a:ext cx="420624" cy="420624"/>
          </a:xfrm>
          <a:prstGeom prst="ellipse">
            <a:avLst/>
          </a:prstGeom>
          <a:solidFill>
            <a:srgbClr val="1E2761"/>
          </a:solidFill>
          <a:ln w="12700">
            <a:solidFill>
              <a:srgbClr val="1E2761"/>
            </a:solidFill>
            <a:prstDash val="solid"/>
          </a:ln>
        </p:spPr>
      </p:sp>
      <p:pic>
        <p:nvPicPr>
          <p:cNvPr id="6" name="Image 0" descr="preencoded.png">    </p:cNvPr>
          <p:cNvPicPr>
            <a:picLocks noChangeAspect="1"/>
          </p:cNvPicPr>
          <p:nvPr/>
        </p:nvPicPr>
        <p:blipFill>
          <a:blip r:embed="rId1"/>
          <a:stretch>
            <a:fillRect/>
          </a:stretch>
        </p:blipFill>
        <p:spPr>
          <a:xfrm>
            <a:off x="854964" y="1604772"/>
            <a:ext cx="210312" cy="210312"/>
          </a:xfrm>
          <a:prstGeom prst="rect">
            <a:avLst/>
          </a:prstGeom>
        </p:spPr>
      </p:pic>
      <p:sp>
        <p:nvSpPr>
          <p:cNvPr id="7" name="Text 4"/>
          <p:cNvSpPr txBox="1"/>
          <p:nvPr/>
        </p:nvSpPr>
        <p:spPr>
          <a:xfrm>
            <a:off x="1280160" y="1499616"/>
            <a:ext cx="1810512" cy="420624"/>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Inspectors</a:t>
            </a:r>
            <a:endParaRPr lang="en-US" sz="1600" dirty="0"/>
          </a:p>
        </p:txBody>
      </p:sp>
      <p:sp>
        <p:nvSpPr>
          <p:cNvPr id="8" name="Text 5"/>
          <p:cNvSpPr txBox="1"/>
          <p:nvPr/>
        </p:nvSpPr>
        <p:spPr>
          <a:xfrm>
            <a:off x="804672" y="2011680"/>
            <a:ext cx="2267712" cy="1133856"/>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Check in seconds, not minutes</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Objective, reproducible evidence</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Court-ready PDF report</a:t>
            </a:r>
            <a:endParaRPr lang="en-US" sz="1000" dirty="0"/>
          </a:p>
        </p:txBody>
      </p:sp>
      <p:sp>
        <p:nvSpPr>
          <p:cNvPr id="9" name="Shape 6"/>
          <p:cNvSpPr/>
          <p:nvPr/>
        </p:nvSpPr>
        <p:spPr>
          <a:xfrm>
            <a:off x="3456432" y="1298448"/>
            <a:ext cx="2724912" cy="1938528"/>
          </a:xfrm>
          <a:prstGeom prst="roundRect">
            <a:avLst>
              <a:gd name="adj" fmla="val 3774"/>
            </a:avLst>
          </a:prstGeom>
          <a:solidFill>
            <a:srgbClr val="FFFFFF"/>
          </a:solidFill>
          <a:ln w="12700">
            <a:solidFill>
              <a:srgbClr val="D5DCEC"/>
            </a:solidFill>
            <a:prstDash val="solid"/>
          </a:ln>
        </p:spPr>
      </p:sp>
      <p:sp>
        <p:nvSpPr>
          <p:cNvPr id="10" name="Shape 7"/>
          <p:cNvSpPr/>
          <p:nvPr/>
        </p:nvSpPr>
        <p:spPr>
          <a:xfrm>
            <a:off x="3657600" y="1499616"/>
            <a:ext cx="420624" cy="420624"/>
          </a:xfrm>
          <a:prstGeom prst="ellipse">
            <a:avLst/>
          </a:prstGeom>
          <a:solidFill>
            <a:srgbClr val="1E2761"/>
          </a:solidFill>
          <a:ln w="12700">
            <a:solidFill>
              <a:srgbClr val="1E2761"/>
            </a:solidFill>
            <a:prstDash val="solid"/>
          </a:ln>
        </p:spPr>
      </p:sp>
      <p:pic>
        <p:nvPicPr>
          <p:cNvPr id="11" name="Image 1" descr="preencoded.png">    </p:cNvPr>
          <p:cNvPicPr>
            <a:picLocks noChangeAspect="1"/>
          </p:cNvPicPr>
          <p:nvPr/>
        </p:nvPicPr>
        <p:blipFill>
          <a:blip r:embed="rId2"/>
          <a:stretch>
            <a:fillRect/>
          </a:stretch>
        </p:blipFill>
        <p:spPr>
          <a:xfrm>
            <a:off x="3762756" y="1604772"/>
            <a:ext cx="210312" cy="210312"/>
          </a:xfrm>
          <a:prstGeom prst="rect">
            <a:avLst/>
          </a:prstGeom>
        </p:spPr>
      </p:pic>
      <p:sp>
        <p:nvSpPr>
          <p:cNvPr id="12" name="Text 8"/>
          <p:cNvSpPr txBox="1"/>
          <p:nvPr/>
        </p:nvSpPr>
        <p:spPr>
          <a:xfrm>
            <a:off x="4187952" y="1499616"/>
            <a:ext cx="1810512" cy="420624"/>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Manufacturers</a:t>
            </a:r>
            <a:endParaRPr lang="en-US" sz="1600" dirty="0"/>
          </a:p>
        </p:txBody>
      </p:sp>
      <p:sp>
        <p:nvSpPr>
          <p:cNvPr id="13" name="Text 9"/>
          <p:cNvSpPr txBox="1"/>
          <p:nvPr/>
        </p:nvSpPr>
        <p:spPr>
          <a:xfrm>
            <a:off x="3712464" y="2011680"/>
            <a:ext cx="2267712" cy="1133856"/>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Catch errors before printing lakhs of wrappers</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Avoid seizure and rework cost</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Stay current as rules change</a:t>
            </a:r>
            <a:endParaRPr lang="en-US" sz="1000" dirty="0"/>
          </a:p>
        </p:txBody>
      </p:sp>
      <p:sp>
        <p:nvSpPr>
          <p:cNvPr id="14" name="Shape 10"/>
          <p:cNvSpPr/>
          <p:nvPr/>
        </p:nvSpPr>
        <p:spPr>
          <a:xfrm>
            <a:off x="6364224" y="1298448"/>
            <a:ext cx="2724912" cy="1938528"/>
          </a:xfrm>
          <a:prstGeom prst="roundRect">
            <a:avLst>
              <a:gd name="adj" fmla="val 3774"/>
            </a:avLst>
          </a:prstGeom>
          <a:solidFill>
            <a:srgbClr val="FFFFFF"/>
          </a:solidFill>
          <a:ln w="12700">
            <a:solidFill>
              <a:srgbClr val="D5DCEC"/>
            </a:solidFill>
            <a:prstDash val="solid"/>
          </a:ln>
        </p:spPr>
      </p:sp>
      <p:sp>
        <p:nvSpPr>
          <p:cNvPr id="15" name="Shape 11"/>
          <p:cNvSpPr/>
          <p:nvPr/>
        </p:nvSpPr>
        <p:spPr>
          <a:xfrm>
            <a:off x="6565392" y="1499616"/>
            <a:ext cx="420624" cy="420624"/>
          </a:xfrm>
          <a:prstGeom prst="ellipse">
            <a:avLst/>
          </a:prstGeom>
          <a:solidFill>
            <a:srgbClr val="1E2761"/>
          </a:solidFill>
          <a:ln w="12700">
            <a:solidFill>
              <a:srgbClr val="1E2761"/>
            </a:solidFill>
            <a:prstDash val="solid"/>
          </a:ln>
        </p:spPr>
      </p:sp>
      <p:pic>
        <p:nvPicPr>
          <p:cNvPr id="16" name="Image 2" descr="preencoded.png">    </p:cNvPr>
          <p:cNvPicPr>
            <a:picLocks noChangeAspect="1"/>
          </p:cNvPicPr>
          <p:nvPr/>
        </p:nvPicPr>
        <p:blipFill>
          <a:blip r:embed="rId3"/>
          <a:stretch>
            <a:fillRect/>
          </a:stretch>
        </p:blipFill>
        <p:spPr>
          <a:xfrm>
            <a:off x="6670548" y="1604772"/>
            <a:ext cx="210312" cy="210312"/>
          </a:xfrm>
          <a:prstGeom prst="rect">
            <a:avLst/>
          </a:prstGeom>
        </p:spPr>
      </p:pic>
      <p:sp>
        <p:nvSpPr>
          <p:cNvPr id="17" name="Text 12"/>
          <p:cNvSpPr txBox="1"/>
          <p:nvPr/>
        </p:nvSpPr>
        <p:spPr>
          <a:xfrm>
            <a:off x="7095744" y="1499616"/>
            <a:ext cx="1810512" cy="420624"/>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Consumers</a:t>
            </a:r>
            <a:endParaRPr lang="en-US" sz="1600" dirty="0"/>
          </a:p>
        </p:txBody>
      </p:sp>
      <p:sp>
        <p:nvSpPr>
          <p:cNvPr id="18" name="Text 13"/>
          <p:cNvSpPr txBox="1"/>
          <p:nvPr/>
        </p:nvSpPr>
        <p:spPr>
          <a:xfrm>
            <a:off x="6620256" y="2011680"/>
            <a:ext cx="2267712" cy="1133856"/>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Scan before buying</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Report with real evidence</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Know what the law guarantees</a:t>
            </a:r>
            <a:endParaRPr lang="en-US" sz="1000" dirty="0"/>
          </a:p>
        </p:txBody>
      </p:sp>
      <p:sp>
        <p:nvSpPr>
          <p:cNvPr id="19" name="Shape 14"/>
          <p:cNvSpPr/>
          <p:nvPr/>
        </p:nvSpPr>
        <p:spPr>
          <a:xfrm>
            <a:off x="9272016" y="1298448"/>
            <a:ext cx="2724912" cy="1938528"/>
          </a:xfrm>
          <a:prstGeom prst="roundRect">
            <a:avLst>
              <a:gd name="adj" fmla="val 3774"/>
            </a:avLst>
          </a:prstGeom>
          <a:solidFill>
            <a:srgbClr val="FFFFFF"/>
          </a:solidFill>
          <a:ln w="12700">
            <a:solidFill>
              <a:srgbClr val="D5DCEC"/>
            </a:solidFill>
            <a:prstDash val="solid"/>
          </a:ln>
        </p:spPr>
      </p:sp>
      <p:sp>
        <p:nvSpPr>
          <p:cNvPr id="20" name="Shape 15"/>
          <p:cNvSpPr/>
          <p:nvPr/>
        </p:nvSpPr>
        <p:spPr>
          <a:xfrm>
            <a:off x="9473184" y="1499616"/>
            <a:ext cx="420624" cy="420624"/>
          </a:xfrm>
          <a:prstGeom prst="ellipse">
            <a:avLst/>
          </a:prstGeom>
          <a:solidFill>
            <a:srgbClr val="1E2761"/>
          </a:solidFill>
          <a:ln w="12700">
            <a:solidFill>
              <a:srgbClr val="1E2761"/>
            </a:solidFill>
            <a:prstDash val="solid"/>
          </a:ln>
        </p:spPr>
      </p:sp>
      <p:pic>
        <p:nvPicPr>
          <p:cNvPr id="21" name="Image 3" descr="preencoded.png">    </p:cNvPr>
          <p:cNvPicPr>
            <a:picLocks noChangeAspect="1"/>
          </p:cNvPicPr>
          <p:nvPr/>
        </p:nvPicPr>
        <p:blipFill>
          <a:blip r:embed="rId4"/>
          <a:stretch>
            <a:fillRect/>
          </a:stretch>
        </p:blipFill>
        <p:spPr>
          <a:xfrm>
            <a:off x="9578340" y="1604772"/>
            <a:ext cx="210312" cy="210312"/>
          </a:xfrm>
          <a:prstGeom prst="rect">
            <a:avLst/>
          </a:prstGeom>
        </p:spPr>
      </p:pic>
      <p:sp>
        <p:nvSpPr>
          <p:cNvPr id="22" name="Text 16"/>
          <p:cNvSpPr txBox="1"/>
          <p:nvPr/>
        </p:nvSpPr>
        <p:spPr>
          <a:xfrm>
            <a:off x="10003536" y="1499616"/>
            <a:ext cx="1810512" cy="420624"/>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Ministry</a:t>
            </a:r>
            <a:endParaRPr lang="en-US" sz="1600" dirty="0"/>
          </a:p>
        </p:txBody>
      </p:sp>
      <p:sp>
        <p:nvSpPr>
          <p:cNvPr id="23" name="Text 17"/>
          <p:cNvSpPr txBox="1"/>
          <p:nvPr/>
        </p:nvSpPr>
        <p:spPr>
          <a:xfrm>
            <a:off x="9528048" y="2011680"/>
            <a:ext cx="2267712" cy="1133856"/>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National compliance picture</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Target inspections where violations cluster</a:t>
            </a:r>
            <a:endParaRPr lang="en-US" sz="1000" dirty="0"/>
          </a:p>
          <a:p>
            <a:pPr marL="127000" indent="-127000">
              <a:lnSpc>
                <a:spcPct val="105000"/>
              </a:lnSpc>
              <a:spcAft>
                <a:spcPts val="400"/>
              </a:spcAft>
              <a:buSzPct val="100000"/>
              <a:buChar char="•"/>
            </a:pPr>
            <a:r>
              <a:rPr lang="en-US" sz="1000" dirty="0">
                <a:solidFill>
                  <a:srgbClr val="5A6480"/>
                </a:solidFill>
                <a:latin typeface="Calibri" pitchFamily="34" charset="0"/>
                <a:ea typeface="Calibri" pitchFamily="34" charset="-122"/>
                <a:cs typeface="Calibri" pitchFamily="34" charset="-120"/>
              </a:rPr>
              <a:t>Audit online listings at scale</a:t>
            </a:r>
            <a:endParaRPr lang="en-US" sz="1000" dirty="0"/>
          </a:p>
        </p:txBody>
      </p:sp>
      <p:sp>
        <p:nvSpPr>
          <p:cNvPr id="24" name="Shape 18"/>
          <p:cNvSpPr/>
          <p:nvPr/>
        </p:nvSpPr>
        <p:spPr>
          <a:xfrm>
            <a:off x="548640" y="3438144"/>
            <a:ext cx="3575304" cy="1719072"/>
          </a:xfrm>
          <a:prstGeom prst="roundRect">
            <a:avLst>
              <a:gd name="adj" fmla="val 4255"/>
            </a:avLst>
          </a:prstGeom>
          <a:solidFill>
            <a:srgbClr val="EEF2FB"/>
          </a:solidFill>
          <a:ln w="12700">
            <a:solidFill>
              <a:srgbClr val="DAE3F5"/>
            </a:solidFill>
            <a:prstDash val="solid"/>
          </a:ln>
        </p:spPr>
      </p:sp>
      <p:sp>
        <p:nvSpPr>
          <p:cNvPr id="25" name="Text 19"/>
          <p:cNvSpPr txBox="1"/>
          <p:nvPr/>
        </p:nvSpPr>
        <p:spPr>
          <a:xfrm>
            <a:off x="777240" y="3602736"/>
            <a:ext cx="3118104" cy="237744"/>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SOCIAL</a:t>
            </a:r>
            <a:endParaRPr lang="en-US" sz="1000" dirty="0"/>
          </a:p>
        </p:txBody>
      </p:sp>
      <p:sp>
        <p:nvSpPr>
          <p:cNvPr id="26" name="Text 20"/>
          <p:cNvSpPr txBox="1"/>
          <p:nvPr/>
        </p:nvSpPr>
        <p:spPr>
          <a:xfrm>
            <a:off x="777240" y="3877056"/>
            <a:ext cx="3118104" cy="1188720"/>
          </a:xfrm>
          <a:prstGeom prst="rect">
            <a:avLst/>
          </a:prstGeom>
          <a:noFill/>
          <a:ln/>
        </p:spPr>
        <p:txBody>
          <a:bodyPr wrap="square" lIns="0" tIns="0" rIns="0" bIns="0" rtlCol="0" anchor="t"/>
          <a:lstStyle/>
          <a:p>
            <a:pPr indent="0" marL="0">
              <a:lnSpc>
                <a:spcPct val="110000"/>
              </a:lnSpc>
              <a:buNone/>
            </a:pPr>
            <a:r>
              <a:rPr lang="en-US" sz="1050" dirty="0">
                <a:solidFill>
                  <a:srgbClr val="1A1F36"/>
                </a:solidFill>
                <a:latin typeface="Calibri" pitchFamily="34" charset="0"/>
                <a:ea typeface="Calibri" pitchFamily="34" charset="-122"/>
                <a:cs typeface="Calibri" pitchFamily="34" charset="-120"/>
              </a:rPr>
              <a:t>Consumers finally get the information the law promises them. Enforcement becomes consistent instead of depending on which inspector visits which shop.</a:t>
            </a:r>
            <a:endParaRPr lang="en-US" sz="1050" dirty="0"/>
          </a:p>
        </p:txBody>
      </p:sp>
      <p:sp>
        <p:nvSpPr>
          <p:cNvPr id="27" name="Shape 21"/>
          <p:cNvSpPr/>
          <p:nvPr/>
        </p:nvSpPr>
        <p:spPr>
          <a:xfrm>
            <a:off x="4352544" y="3438144"/>
            <a:ext cx="3575304" cy="1719072"/>
          </a:xfrm>
          <a:prstGeom prst="roundRect">
            <a:avLst>
              <a:gd name="adj" fmla="val 4255"/>
            </a:avLst>
          </a:prstGeom>
          <a:solidFill>
            <a:srgbClr val="EEF2FB"/>
          </a:solidFill>
          <a:ln w="12700">
            <a:solidFill>
              <a:srgbClr val="DAE3F5"/>
            </a:solidFill>
            <a:prstDash val="solid"/>
          </a:ln>
        </p:spPr>
      </p:sp>
      <p:sp>
        <p:nvSpPr>
          <p:cNvPr id="28" name="Text 22"/>
          <p:cNvSpPr txBox="1"/>
          <p:nvPr/>
        </p:nvSpPr>
        <p:spPr>
          <a:xfrm>
            <a:off x="4581144" y="3602736"/>
            <a:ext cx="3118104" cy="237744"/>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ECONOMIC</a:t>
            </a:r>
            <a:endParaRPr lang="en-US" sz="1000" dirty="0"/>
          </a:p>
        </p:txBody>
      </p:sp>
      <p:sp>
        <p:nvSpPr>
          <p:cNvPr id="29" name="Text 23"/>
          <p:cNvSpPr txBox="1"/>
          <p:nvPr/>
        </p:nvSpPr>
        <p:spPr>
          <a:xfrm>
            <a:off x="4581144" y="3877056"/>
            <a:ext cx="3118104" cy="1188720"/>
          </a:xfrm>
          <a:prstGeom prst="rect">
            <a:avLst/>
          </a:prstGeom>
          <a:noFill/>
          <a:ln/>
        </p:spPr>
        <p:txBody>
          <a:bodyPr wrap="square" lIns="0" tIns="0" rIns="0" bIns="0" rtlCol="0" anchor="t"/>
          <a:lstStyle/>
          <a:p>
            <a:pPr indent="0" marL="0">
              <a:lnSpc>
                <a:spcPct val="110000"/>
              </a:lnSpc>
              <a:buNone/>
            </a:pPr>
            <a:r>
              <a:rPr lang="en-US" sz="1050" dirty="0">
                <a:solidFill>
                  <a:srgbClr val="1A1F36"/>
                </a:solidFill>
                <a:latin typeface="Calibri" pitchFamily="34" charset="0"/>
                <a:ea typeface="Calibri" pitchFamily="34" charset="-122"/>
                <a:cs typeface="Calibri" pitchFamily="34" charset="-120"/>
              </a:rPr>
              <a:t>Section 36 penalties run Rs 25,000, then Rs 50,000, then Rs 1,00,000 with up to one year's imprisonment. Prevention is far cheaper than prosecution — for government and industry alike.</a:t>
            </a:r>
            <a:endParaRPr lang="en-US" sz="1050" dirty="0"/>
          </a:p>
        </p:txBody>
      </p:sp>
      <p:sp>
        <p:nvSpPr>
          <p:cNvPr id="30" name="Shape 24"/>
          <p:cNvSpPr/>
          <p:nvPr/>
        </p:nvSpPr>
        <p:spPr>
          <a:xfrm>
            <a:off x="8156448" y="3438144"/>
            <a:ext cx="3575304" cy="1719072"/>
          </a:xfrm>
          <a:prstGeom prst="roundRect">
            <a:avLst>
              <a:gd name="adj" fmla="val 4255"/>
            </a:avLst>
          </a:prstGeom>
          <a:solidFill>
            <a:srgbClr val="EEF2FB"/>
          </a:solidFill>
          <a:ln w="12700">
            <a:solidFill>
              <a:srgbClr val="DAE3F5"/>
            </a:solidFill>
            <a:prstDash val="solid"/>
          </a:ln>
        </p:spPr>
      </p:sp>
      <p:sp>
        <p:nvSpPr>
          <p:cNvPr id="31" name="Text 25"/>
          <p:cNvSpPr txBox="1"/>
          <p:nvPr/>
        </p:nvSpPr>
        <p:spPr>
          <a:xfrm>
            <a:off x="8385048" y="3602736"/>
            <a:ext cx="3118104" cy="237744"/>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ENVIRONMENTAL</a:t>
            </a:r>
            <a:endParaRPr lang="en-US" sz="1000" dirty="0"/>
          </a:p>
        </p:txBody>
      </p:sp>
      <p:sp>
        <p:nvSpPr>
          <p:cNvPr id="32" name="Text 26"/>
          <p:cNvSpPr txBox="1"/>
          <p:nvPr/>
        </p:nvSpPr>
        <p:spPr>
          <a:xfrm>
            <a:off x="8385048" y="3877056"/>
            <a:ext cx="3118104" cy="1188720"/>
          </a:xfrm>
          <a:prstGeom prst="rect">
            <a:avLst/>
          </a:prstGeom>
          <a:noFill/>
          <a:ln/>
        </p:spPr>
        <p:txBody>
          <a:bodyPr wrap="square" lIns="0" tIns="0" rIns="0" bIns="0" rtlCol="0" anchor="t"/>
          <a:lstStyle/>
          <a:p>
            <a:pPr indent="0" marL="0">
              <a:lnSpc>
                <a:spcPct val="110000"/>
              </a:lnSpc>
              <a:buNone/>
            </a:pPr>
            <a:r>
              <a:rPr lang="en-US" sz="1050" dirty="0">
                <a:solidFill>
                  <a:srgbClr val="1A1F36"/>
                </a:solidFill>
                <a:latin typeface="Calibri" pitchFamily="34" charset="0"/>
                <a:ea typeface="Calibri" pitchFamily="34" charset="-122"/>
                <a:cs typeface="Calibri" pitchFamily="34" charset="-120"/>
              </a:rPr>
              <a:t>Catching label errors before printing avoids scrapping and reprinting entire runs of packaging material.</a:t>
            </a:r>
            <a:endParaRPr lang="en-US" sz="1050" dirty="0"/>
          </a:p>
        </p:txBody>
      </p:sp>
      <p:sp>
        <p:nvSpPr>
          <p:cNvPr id="33" name="Shape 27"/>
          <p:cNvSpPr/>
          <p:nvPr/>
        </p:nvSpPr>
        <p:spPr>
          <a:xfrm>
            <a:off x="548640" y="5367528"/>
            <a:ext cx="11091672" cy="841248"/>
          </a:xfrm>
          <a:prstGeom prst="roundRect">
            <a:avLst>
              <a:gd name="adj" fmla="val 8696"/>
            </a:avLst>
          </a:prstGeom>
          <a:solidFill>
            <a:srgbClr val="1E2761"/>
          </a:solidFill>
          <a:ln w="12700">
            <a:solidFill>
              <a:srgbClr val="1E2761"/>
            </a:solidFill>
            <a:prstDash val="solid"/>
          </a:ln>
        </p:spPr>
      </p:sp>
      <p:sp>
        <p:nvSpPr>
          <p:cNvPr id="34" name="Text 28"/>
          <p:cNvSpPr txBox="1"/>
          <p:nvPr/>
        </p:nvSpPr>
        <p:spPr>
          <a:xfrm>
            <a:off x="822960" y="5367528"/>
            <a:ext cx="1005840" cy="841248"/>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SCALE</a:t>
            </a:r>
            <a:endParaRPr lang="en-US" sz="1000" dirty="0"/>
          </a:p>
        </p:txBody>
      </p:sp>
      <p:sp>
        <p:nvSpPr>
          <p:cNvPr id="35" name="Text 29"/>
          <p:cNvSpPr txBox="1"/>
          <p:nvPr/>
        </p:nvSpPr>
        <p:spPr>
          <a:xfrm>
            <a:off x="1828800" y="5367528"/>
            <a:ext cx="9509760" cy="841248"/>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Millions of retail outlets and crores of online listings. The 2026 Amendment adds country-of-origin and net-quantity duties for e-commerce listings, with a transition running to July 2027. Manual checking cannot reach this. Software can.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47472"/>
            <a:ext cx="868680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Research and References</a:t>
            </a:r>
            <a:endParaRPr lang="en-US" sz="3400" dirty="0"/>
          </a:p>
        </p:txBody>
      </p:sp>
      <p:sp>
        <p:nvSpPr>
          <p:cNvPr id="3" name="Text 1"/>
          <p:cNvSpPr txBox="1"/>
          <p:nvPr/>
        </p:nvSpPr>
        <p:spPr>
          <a:xfrm>
            <a:off x="548640" y="914400"/>
            <a:ext cx="10058400" cy="256032"/>
          </a:xfrm>
          <a:prstGeom prst="rect">
            <a:avLst/>
          </a:prstGeom>
          <a:noFill/>
          <a:ln/>
        </p:spPr>
        <p:txBody>
          <a:bodyPr wrap="square" lIns="0" tIns="0" rIns="0" bIns="0" rtlCol="0" anchor="ctr"/>
          <a:lstStyle/>
          <a:p>
            <a:pPr indent="0" marL="0">
              <a:buNone/>
            </a:pPr>
            <a:r>
              <a:rPr lang="en-US" sz="1150" dirty="0">
                <a:solidFill>
                  <a:srgbClr val="8FA6D8"/>
                </a:solidFill>
                <a:latin typeface="Calibri" pitchFamily="34" charset="0"/>
                <a:ea typeface="Calibri" pitchFamily="34" charset="-122"/>
                <a:cs typeface="Calibri" pitchFamily="34" charset="-120"/>
              </a:rPr>
              <a:t>Details and links of the reference and research work</a:t>
            </a:r>
            <a:endParaRPr lang="en-US" sz="1150" dirty="0"/>
          </a:p>
        </p:txBody>
      </p:sp>
      <p:sp>
        <p:nvSpPr>
          <p:cNvPr id="4" name="Text 2"/>
          <p:cNvSpPr txBox="1"/>
          <p:nvPr/>
        </p:nvSpPr>
        <p:spPr>
          <a:xfrm>
            <a:off x="548640" y="1463040"/>
            <a:ext cx="5349240" cy="237744"/>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STATUTE AND RULES</a:t>
            </a:r>
            <a:endParaRPr lang="en-US" sz="1000" dirty="0"/>
          </a:p>
        </p:txBody>
      </p:sp>
      <p:sp>
        <p:nvSpPr>
          <p:cNvPr id="5" name="Text 3"/>
          <p:cNvSpPr txBox="1"/>
          <p:nvPr/>
        </p:nvSpPr>
        <p:spPr>
          <a:xfrm>
            <a:off x="548640" y="1783080"/>
            <a:ext cx="5349240" cy="2011680"/>
          </a:xfrm>
          <a:prstGeom prst="rect">
            <a:avLst/>
          </a:prstGeom>
          <a:noFill/>
          <a:ln/>
        </p:spPr>
        <p:txBody>
          <a:bodyPr wrap="square" lIns="0" tIns="0" rIns="0" bIns="0" rtlCol="0" anchor="t"/>
          <a:lstStyle/>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Legal Metrology (Packaged Commodities) Rules, 2011 — Rules 6, 7, 9, 11, 13, 24, 26</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Legal Metrology Act, 2009 — Section 36, penalties</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Amendment Rules 2025 (29 Oct 2025) — medical device labelling harmonisation</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Amendment Rules 2026 — e-commerce country-of-origin and net-quantity disclosure</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eMaap — Department of Consumer Affairs National Legal Metrology Portal</a:t>
            </a:r>
            <a:endParaRPr lang="en-US" sz="1100" dirty="0"/>
          </a:p>
        </p:txBody>
      </p:sp>
      <p:sp>
        <p:nvSpPr>
          <p:cNvPr id="6" name="Text 4"/>
          <p:cNvSpPr txBox="1"/>
          <p:nvPr/>
        </p:nvSpPr>
        <p:spPr>
          <a:xfrm>
            <a:off x="6263640" y="1463040"/>
            <a:ext cx="5349240" cy="237744"/>
          </a:xfrm>
          <a:prstGeom prst="rect">
            <a:avLst/>
          </a:prstGeom>
          <a:noFill/>
          <a:ln/>
        </p:spPr>
        <p:txBody>
          <a:bodyPr wrap="square" lIns="0" tIns="0" rIns="0" bIns="0" rtlCol="0" anchor="ctr"/>
          <a:lstStyle/>
          <a:p>
            <a:pPr indent="0" marL="0">
              <a:buNone/>
            </a:pPr>
            <a:r>
              <a:rPr lang="en-US" sz="1000" b="1" spc="120" kern="0" dirty="0">
                <a:solidFill>
                  <a:srgbClr val="F26430"/>
                </a:solidFill>
                <a:latin typeface="Calibri" pitchFamily="34" charset="0"/>
                <a:ea typeface="Calibri" pitchFamily="34" charset="-122"/>
                <a:cs typeface="Calibri" pitchFamily="34" charset="-120"/>
              </a:rPr>
              <a:t>TECHNICAL AND FIELD WORK</a:t>
            </a:r>
            <a:endParaRPr lang="en-US" sz="1000" dirty="0"/>
          </a:p>
        </p:txBody>
      </p:sp>
      <p:sp>
        <p:nvSpPr>
          <p:cNvPr id="7" name="Text 5"/>
          <p:cNvSpPr txBox="1"/>
          <p:nvPr/>
        </p:nvSpPr>
        <p:spPr>
          <a:xfrm>
            <a:off x="6263640" y="1783080"/>
            <a:ext cx="5349240" cy="2011680"/>
          </a:xfrm>
          <a:prstGeom prst="rect">
            <a:avLst/>
          </a:prstGeom>
          <a:noFill/>
          <a:ln/>
        </p:spPr>
        <p:txBody>
          <a:bodyPr wrap="square" lIns="0" tIns="0" rIns="0" bIns="0" rtlCol="0" anchor="t"/>
          <a:lstStyle/>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OpenCV ArUco documentation — marker-based scale recovery</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EasyOCR / PaddleOCR — multilingual text recognition (English + Devanagari)</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Our own field study — 40 retail packets photographed across categories</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20 labels hand-measured with a vernier caliper as ground truth</a:t>
            </a:r>
            <a:endParaRPr lang="en-US" sz="1100" dirty="0"/>
          </a:p>
          <a:p>
            <a:pPr marL="127000" indent="-127000">
              <a:lnSpc>
                <a:spcPct val="105000"/>
              </a:lnSpc>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Accuracy benchmark built from that ground-truth set</a:t>
            </a:r>
            <a:endParaRPr lang="en-US" sz="1100" dirty="0"/>
          </a:p>
        </p:txBody>
      </p:sp>
      <p:sp>
        <p:nvSpPr>
          <p:cNvPr id="8" name="Shape 6"/>
          <p:cNvSpPr/>
          <p:nvPr/>
        </p:nvSpPr>
        <p:spPr>
          <a:xfrm>
            <a:off x="548640" y="3611880"/>
            <a:ext cx="11091672" cy="1143000"/>
          </a:xfrm>
          <a:prstGeom prst="roundRect">
            <a:avLst>
              <a:gd name="adj" fmla="val 6400"/>
            </a:avLst>
          </a:prstGeom>
          <a:solidFill>
            <a:srgbClr val="2E3C7E"/>
          </a:solidFill>
          <a:ln w="12700">
            <a:solidFill>
              <a:srgbClr val="2E3C7E"/>
            </a:solidFill>
            <a:prstDash val="solid"/>
          </a:ln>
        </p:spPr>
      </p:sp>
      <p:sp>
        <p:nvSpPr>
          <p:cNvPr id="9" name="Text 7"/>
          <p:cNvSpPr txBox="1"/>
          <p:nvPr/>
        </p:nvSpPr>
        <p:spPr>
          <a:xfrm>
            <a:off x="822960" y="3767328"/>
            <a:ext cx="10515600" cy="219456"/>
          </a:xfrm>
          <a:prstGeom prst="rect">
            <a:avLst/>
          </a:prstGeom>
          <a:noFill/>
          <a:ln/>
        </p:spPr>
        <p:txBody>
          <a:bodyPr wrap="square" lIns="0" tIns="0" rIns="0" bIns="0" rtlCol="0" anchor="ctr"/>
          <a:lstStyle/>
          <a:p>
            <a:pPr indent="0" marL="0">
              <a:buNone/>
            </a:pPr>
            <a:r>
              <a:rPr lang="en-US" sz="950" b="1" spc="110" kern="0" dirty="0">
                <a:solidFill>
                  <a:srgbClr val="F26430"/>
                </a:solidFill>
                <a:latin typeface="Calibri" pitchFamily="34" charset="0"/>
                <a:ea typeface="Calibri" pitchFamily="34" charset="-122"/>
                <a:cs typeface="Calibri" pitchFamily="34" charset="-120"/>
              </a:rPr>
              <a:t>WHAT ALREADY EXISTS — AND WHY OURS IS DIFFERENT</a:t>
            </a:r>
            <a:endParaRPr lang="en-US" sz="950" dirty="0"/>
          </a:p>
        </p:txBody>
      </p:sp>
      <p:sp>
        <p:nvSpPr>
          <p:cNvPr id="10" name="Text 8"/>
          <p:cNvSpPr txBox="1"/>
          <p:nvPr/>
        </p:nvSpPr>
        <p:spPr>
          <a:xfrm>
            <a:off x="822960" y="4023360"/>
            <a:ext cx="10515600" cy="621792"/>
          </a:xfrm>
          <a:prstGeom prst="rect">
            <a:avLst/>
          </a:prstGeom>
          <a:noFill/>
          <a:ln/>
        </p:spPr>
        <p:txBody>
          <a:bodyPr wrap="square" lIns="0" tIns="0" rIns="0" bIns="0" rtlCol="0" anchor="t"/>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Barcode and QR scanner apps identify a product. Consumer and FSSAI apps display product information. None of them verify compliance, and none measure printed letter height. Ours is the first to treat this as a measurement problem rather than a text-reading problem.</a:t>
            </a:r>
            <a:endParaRPr lang="en-US" sz="1100" dirty="0"/>
          </a:p>
        </p:txBody>
      </p:sp>
      <p:sp>
        <p:nvSpPr>
          <p:cNvPr id="11" name="Text 9"/>
          <p:cNvSpPr txBox="1"/>
          <p:nvPr/>
        </p:nvSpPr>
        <p:spPr>
          <a:xfrm>
            <a:off x="548640" y="4956048"/>
            <a:ext cx="10515600" cy="219456"/>
          </a:xfrm>
          <a:prstGeom prst="rect">
            <a:avLst/>
          </a:prstGeom>
          <a:noFill/>
          <a:ln/>
        </p:spPr>
        <p:txBody>
          <a:bodyPr wrap="square" lIns="0" tIns="0" rIns="0" bIns="0" rtlCol="0" anchor="ctr"/>
          <a:lstStyle/>
          <a:p>
            <a:pPr indent="0" marL="0">
              <a:buNone/>
            </a:pPr>
            <a:r>
              <a:rPr lang="en-US" sz="950" b="1" spc="110" kern="0" dirty="0">
                <a:solidFill>
                  <a:srgbClr val="8FA6D8"/>
                </a:solidFill>
                <a:latin typeface="Calibri" pitchFamily="34" charset="0"/>
                <a:ea typeface="Calibri" pitchFamily="34" charset="-122"/>
                <a:cs typeface="Calibri" pitchFamily="34" charset="-120"/>
              </a:rPr>
              <a:t>FUTURE SCOPE</a:t>
            </a:r>
            <a:endParaRPr lang="en-US" sz="950" dirty="0"/>
          </a:p>
        </p:txBody>
      </p:sp>
      <p:sp>
        <p:nvSpPr>
          <p:cNvPr id="12" name="Text 10"/>
          <p:cNvSpPr txBox="1"/>
          <p:nvPr/>
        </p:nvSpPr>
        <p:spPr>
          <a:xfrm>
            <a:off x="548640" y="5193792"/>
            <a:ext cx="11091672" cy="548640"/>
          </a:xfrm>
          <a:prstGeom prst="rect">
            <a:avLst/>
          </a:prstGeom>
          <a:noFill/>
          <a:ln/>
        </p:spPr>
        <p:txBody>
          <a:bodyPr wrap="square" lIns="0" tIns="0" rIns="0" bIns="0" rtlCol="0" anchor="t"/>
          <a:lstStyle/>
          <a:p>
            <a:pPr indent="0" marL="0">
              <a:lnSpc>
                <a:spcPct val="110000"/>
              </a:lnSpc>
              <a:buNone/>
            </a:pPr>
            <a:r>
              <a:rPr lang="en-US" sz="1100" dirty="0">
                <a:solidFill>
                  <a:srgbClr val="CADCFC"/>
                </a:solidFill>
                <a:latin typeface="Calibri" pitchFamily="34" charset="0"/>
                <a:ea typeface="Calibri" pitchFamily="34" charset="-122"/>
                <a:cs typeface="Calibri" pitchFamily="34" charset="-120"/>
              </a:rPr>
              <a:t>Online listing compliance checks under the 2026 Amendment  ·  pre-print artwork verification for manufacturers, where vector PDF files allow exact measurement with zero estimation error  ·  a national violation dashboard for risk-based inspection targeting.</a:t>
            </a:r>
            <a:endParaRPr lang="en-US" sz="1100" dirty="0"/>
          </a:p>
        </p:txBody>
      </p:sp>
      <p:sp>
        <p:nvSpPr>
          <p:cNvPr id="13" name="Text 11"/>
          <p:cNvSpPr txBox="1"/>
          <p:nvPr/>
        </p:nvSpPr>
        <p:spPr>
          <a:xfrm>
            <a:off x="548640" y="5779008"/>
            <a:ext cx="11091672" cy="274320"/>
          </a:xfrm>
          <a:prstGeom prst="rect">
            <a:avLst/>
          </a:prstGeom>
          <a:noFill/>
          <a:ln/>
        </p:spPr>
        <p:txBody>
          <a:bodyPr wrap="square" lIns="0" tIns="0" rIns="0" bIns="0" rtlCol="0" anchor="ctr"/>
          <a:lstStyle/>
          <a:p>
            <a:pPr indent="0" marL="0">
              <a:buNone/>
            </a:pPr>
            <a:r>
              <a:rPr lang="en-US" sz="1050" i="1" dirty="0">
                <a:solidFill>
                  <a:srgbClr val="8FA6D8"/>
                </a:solidFill>
                <a:latin typeface="Calibri" pitchFamily="34" charset="0"/>
                <a:ea typeface="Calibri" pitchFamily="34" charset="-122"/>
                <a:cs typeface="Calibri" pitchFamily="34" charset="-120"/>
              </a:rPr>
              <a:t>Full rule text, penalty schedule and amendment history verified against the bare Act and Rules — cited on every verdict the system issues.</a:t>
            </a:r>
            <a:endParaRPr lang="en-US" sz="1050" dirty="0"/>
          </a:p>
        </p:txBody>
      </p:sp>
      <p:sp>
        <p:nvSpPr>
          <p:cNvPr id="14" name="Text 12"/>
          <p:cNvSpPr txBox="1"/>
          <p:nvPr/>
        </p:nvSpPr>
        <p:spPr>
          <a:xfrm>
            <a:off x="548640" y="6172200"/>
            <a:ext cx="11091672" cy="274320"/>
          </a:xfrm>
          <a:prstGeom prst="rect">
            <a:avLst/>
          </a:prstGeom>
          <a:noFill/>
          <a:ln/>
        </p:spPr>
        <p:txBody>
          <a:bodyPr wrap="square" lIns="0" tIns="0" rIns="0" bIns="0" rtlCol="0" anchor="ctr"/>
          <a:lstStyle/>
          <a:p>
            <a:pPr indent="0" marL="0">
              <a:buNone/>
            </a:pPr>
            <a:r>
              <a:rPr lang="en-US" sz="1000" dirty="0">
                <a:solidFill>
                  <a:srgbClr val="8FA6D8"/>
                </a:solidFill>
                <a:latin typeface="Calibri" pitchFamily="34" charset="0"/>
                <a:ea typeface="Calibri" pitchFamily="34" charset="-122"/>
                <a:cs typeface="Calibri" pitchFamily="34" charset="-120"/>
              </a:rPr>
              <a:t>SIH26034  ·  Ministry of Consumer Affairs, Food &amp; Public Distribution  ·  Smart India Hackathon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Naap-Tol — SIH26034</dc:title>
  <dc:subject>PptxGenJS Presentation</dc:subject>
  <dc:creator>SIH26034 Team</dc:creator>
  <cp:lastModifiedBy>SIH26034 Team</cp:lastModifiedBy>
  <cp:revision>1</cp:revision>
  <dcterms:created xsi:type="dcterms:W3CDTF">2026-09-04T09:31:13Z</dcterms:created>
  <dcterms:modified xsi:type="dcterms:W3CDTF">2026-09-04T09:31:13Z</dcterms:modified>
</cp:coreProperties>
</file>